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32404050" cy="43205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F6FD7A-C3A2-43FA-A50A-1F83979ED4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880" cy="72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1620000" y="10109880"/>
            <a:ext cx="29162880" cy="250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AA8CA1-25D0-4F41-90B1-A1769ED5C5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880" cy="72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1620000" y="10109880"/>
            <a:ext cx="29162880" cy="250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AE4839B-B4D8-4953-AEF8-253A1FAC95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F5145C7-2B16-4CA3-AEA6-770F19FBEE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A0D23F8-2051-434A-83C5-CC5084DE4C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400948A-C737-4D47-B2BC-C2F86EF31D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000D748-91D4-4C4A-97B3-780FAC921B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880" cy="72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EF73363-3222-4CB8-8205-5E519D18ED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AC63F03-2540-4374-8350-05FF1370C9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880" cy="72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1620000" y="10109880"/>
            <a:ext cx="14231160" cy="250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16563240" y="10109880"/>
            <a:ext cx="14231160" cy="250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5927966-8566-4A3F-A7E2-6A340CA44C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DFD426A-B7A3-48E7-A2D7-E19B8C4697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29E7B9-D896-4711-A677-71757BCB646F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1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520" cy="72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620000" y="10109880"/>
            <a:ext cx="29162520" cy="2505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4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5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49E83C-C374-42DC-95A6-ABA9F7AF1CA3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dt" idx="6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520" cy="72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032162-1D08-4F51-9AA1-66A88CF0BE11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656D5C-2FDD-4A72-9D7E-680938C69E96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90ACDE-4158-414C-B4FF-61FE9EA8139D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6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17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7D12EA-C334-4E9D-838E-DBED9CA8C63A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8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ftr" idx="19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20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92B243-E48A-41E4-BE61-833F7A3427F7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21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520" cy="72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22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23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A9168E-1111-4E34-BCA0-032EB27906B4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24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ftr" idx="25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26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F0C743-0917-457B-AF18-A3C02905EBBF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27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620000" y="1723680"/>
            <a:ext cx="29162520" cy="72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620000" y="10109880"/>
            <a:ext cx="14230800" cy="2505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16563240" y="10109880"/>
            <a:ext cx="14230800" cy="2505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8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9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E022CC-3E66-4F02-8261-6F1EA20C4758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30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11071080" y="39344760"/>
            <a:ext cx="102607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2322360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2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9F28CC-1155-46F9-B750-DCE2029E46F3}" type="slidenum">
              <a:rPr b="0" lang="en-US" sz="72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1620720" y="39344760"/>
            <a:ext cx="7558920" cy="3001320"/>
          </a:xfrm>
          <a:prstGeom prst="rect">
            <a:avLst/>
          </a:prstGeom>
          <a:noFill/>
          <a:ln w="0">
            <a:noFill/>
          </a:ln>
        </p:spPr>
        <p:txBody>
          <a:bodyPr lIns="473040" rIns="473040" tIns="236520" bIns="23652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84;g37106c98961_0_150" descr=""/>
          <p:cNvPicPr/>
          <p:nvPr/>
        </p:nvPicPr>
        <p:blipFill>
          <a:blip r:embed="rId1"/>
          <a:stretch/>
        </p:blipFill>
        <p:spPr>
          <a:xfrm>
            <a:off x="0" y="0"/>
            <a:ext cx="32403240" cy="6156000"/>
          </a:xfrm>
          <a:prstGeom prst="rect">
            <a:avLst/>
          </a:prstGeom>
          <a:ln w="0">
            <a:noFill/>
          </a:ln>
        </p:spPr>
      </p:pic>
      <p:sp>
        <p:nvSpPr>
          <p:cNvPr id="49" name="Google Shape;85;g37106c98961_0_150"/>
          <p:cNvSpPr/>
          <p:nvPr/>
        </p:nvSpPr>
        <p:spPr>
          <a:xfrm>
            <a:off x="936000" y="8280000"/>
            <a:ext cx="30491280" cy="21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2800" rIns="82800" tIns="41400" bIns="414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404040"/>
                </a:solidFill>
                <a:latin typeface="Calibri"/>
                <a:ea typeface="Calibri"/>
              </a:rPr>
              <a:t>Ronaldo Chiavegatti Sampaio Corrêa  |  Rodrigo Capobianco Guido 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86;g37106c98961_0_150"/>
          <p:cNvSpPr/>
          <p:nvPr/>
        </p:nvSpPr>
        <p:spPr>
          <a:xfrm>
            <a:off x="936000" y="10548000"/>
            <a:ext cx="30491280" cy="21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404040"/>
                </a:solidFill>
                <a:latin typeface="Calibri"/>
                <a:ea typeface="Calibri"/>
              </a:rPr>
              <a:t>Instituto de Biociências, Letras e Ciências Exatas – IBILCE/Unesp, Câmpus de São José do Rio Preto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7;g37106c98961_0_150"/>
          <p:cNvSpPr/>
          <p:nvPr/>
        </p:nvSpPr>
        <p:spPr>
          <a:xfrm>
            <a:off x="871560" y="5867640"/>
            <a:ext cx="30507840" cy="24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2800" rIns="82800" tIns="41400" bIns="414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0" spc="-1" strike="noStrike">
                <a:solidFill>
                  <a:srgbClr val="606060"/>
                </a:solidFill>
                <a:latin typeface="Calibri"/>
                <a:ea typeface="Calibri"/>
              </a:rPr>
              <a:t>IDENTIFICAÇÃO COMPUTACIONAL INTELIGENTE DE DISFUNÇÕES NO TRATO VOCAL</a:t>
            </a:r>
            <a:endParaRPr b="0" lang="pt-BR" sz="7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Google Shape;89;g37106c98961_0_150" descr=""/>
          <p:cNvPicPr/>
          <p:nvPr/>
        </p:nvPicPr>
        <p:blipFill>
          <a:blip r:embed="rId2"/>
          <a:stretch/>
        </p:blipFill>
        <p:spPr>
          <a:xfrm flipH="1" rot="10800000">
            <a:off x="0" y="41009400"/>
            <a:ext cx="32403240" cy="2599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90;g37106c98961_0_150"/>
          <p:cNvSpPr/>
          <p:nvPr/>
        </p:nvSpPr>
        <p:spPr>
          <a:xfrm>
            <a:off x="21061080" y="36294120"/>
            <a:ext cx="8787960" cy="3923640"/>
          </a:xfrm>
          <a:prstGeom prst="wedgeEllipseCallout">
            <a:avLst>
              <a:gd name="adj1" fmla="val 17142"/>
              <a:gd name="adj2" fmla="val 28075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404040"/>
                </a:solidFill>
                <a:latin typeface="Calibri"/>
                <a:ea typeface="Calibri"/>
              </a:rPr>
              <a:t>Iniciação Científica Voluntária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404040"/>
                </a:solidFill>
                <a:latin typeface="Calibri"/>
                <a:ea typeface="Calibri"/>
              </a:rPr>
              <a:t>PIBIC/Unesp</a:t>
            </a:r>
            <a:r>
              <a:rPr b="0" lang="en-US" sz="2600" spc="-1" strike="noStrike">
                <a:solidFill>
                  <a:srgbClr val="404040"/>
                </a:solidFill>
                <a:latin typeface="Calibri"/>
                <a:ea typeface="Calibri"/>
              </a:rPr>
              <a:t> — sem bolsa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Google Shape;94;g37106c98961_0_150" descr=""/>
          <p:cNvPicPr/>
          <p:nvPr/>
        </p:nvPicPr>
        <p:blipFill>
          <a:blip r:embed="rId3"/>
          <a:stretch/>
        </p:blipFill>
        <p:spPr>
          <a:xfrm>
            <a:off x="18810720" y="41726880"/>
            <a:ext cx="4966560" cy="821520"/>
          </a:xfrm>
          <a:prstGeom prst="rect">
            <a:avLst/>
          </a:prstGeom>
          <a:ln w="0">
            <a:noFill/>
          </a:ln>
        </p:spPr>
      </p:pic>
      <p:pic>
        <p:nvPicPr>
          <p:cNvPr id="55" name="Google Shape;95;g37106c98961_0_150" descr=""/>
          <p:cNvPicPr/>
          <p:nvPr/>
        </p:nvPicPr>
        <p:blipFill>
          <a:blip r:embed="rId4"/>
          <a:stretch/>
        </p:blipFill>
        <p:spPr>
          <a:xfrm>
            <a:off x="28841400" y="41639760"/>
            <a:ext cx="3234960" cy="996120"/>
          </a:xfrm>
          <a:prstGeom prst="rect">
            <a:avLst/>
          </a:prstGeom>
          <a:ln w="0">
            <a:noFill/>
          </a:ln>
        </p:spPr>
      </p:pic>
      <p:pic>
        <p:nvPicPr>
          <p:cNvPr id="56" name="Google Shape;96;g37106c98961_0_150" descr=""/>
          <p:cNvPicPr/>
          <p:nvPr/>
        </p:nvPicPr>
        <p:blipFill>
          <a:blip r:embed="rId5"/>
          <a:stretch/>
        </p:blipFill>
        <p:spPr>
          <a:xfrm>
            <a:off x="24327000" y="41592960"/>
            <a:ext cx="3964680" cy="1089720"/>
          </a:xfrm>
          <a:prstGeom prst="rect">
            <a:avLst/>
          </a:prstGeom>
          <a:ln w="0">
            <a:noFill/>
          </a:ln>
        </p:spPr>
      </p:pic>
      <p:sp>
        <p:nvSpPr>
          <p:cNvPr id="57" name="TextBox 96"/>
          <p:cNvSpPr/>
          <p:nvPr/>
        </p:nvSpPr>
        <p:spPr>
          <a:xfrm>
            <a:off x="936000" y="12960000"/>
            <a:ext cx="14399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pt-BR" sz="6000" spc="-1" strike="noStrike">
                <a:solidFill>
                  <a:srgbClr val="1f3b57"/>
                </a:solidFill>
                <a:latin typeface="Calibri"/>
                <a:ea typeface="Arial"/>
              </a:rPr>
              <a:t>INTRODUÇÃO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97"/>
          <p:cNvSpPr/>
          <p:nvPr/>
        </p:nvSpPr>
        <p:spPr>
          <a:xfrm>
            <a:off x="16344000" y="12960000"/>
            <a:ext cx="14399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pt-BR" sz="6000" spc="-1" strike="noStrike">
                <a:solidFill>
                  <a:srgbClr val="1f3b57"/>
                </a:solidFill>
                <a:latin typeface="Calibri"/>
                <a:ea typeface="Arial"/>
              </a:rPr>
              <a:t>OBJETIVOS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ounded Rectangle 98"/>
          <p:cNvSpPr/>
          <p:nvPr/>
        </p:nvSpPr>
        <p:spPr>
          <a:xfrm>
            <a:off x="936000" y="13878000"/>
            <a:ext cx="5939280" cy="1151280"/>
          </a:xfrm>
          <a:prstGeom prst="roundRect">
            <a:avLst>
              <a:gd name="adj" fmla="val 22000"/>
            </a:avLst>
          </a:prstGeom>
          <a:solidFill>
            <a:srgbClr val="ecebe7"/>
          </a:solidFill>
          <a:ln w="20320">
            <a:solidFill>
              <a:srgbClr val="6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900" spc="-1" strike="noStrike">
                <a:solidFill>
                  <a:srgbClr val="606060"/>
                </a:solidFill>
                <a:latin typeface="Calibri"/>
                <a:ea typeface="Arial"/>
              </a:rPr>
              <a:t>Diagnóstico diferencial exige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900" spc="-1" strike="noStrike">
                <a:solidFill>
                  <a:srgbClr val="606060"/>
                </a:solidFill>
                <a:latin typeface="Calibri"/>
                <a:ea typeface="Arial"/>
              </a:rPr>
              <a:t>exames invasivos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99"/>
          <p:cNvSpPr/>
          <p:nvPr/>
        </p:nvSpPr>
        <p:spPr>
          <a:xfrm>
            <a:off x="7093800" y="13950000"/>
            <a:ext cx="4993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3000" spc="-1" strike="noStrike">
                <a:solidFill>
                  <a:srgbClr val="606060"/>
                </a:solidFill>
                <a:latin typeface="Calibri"/>
                <a:ea typeface="Arial"/>
              </a:rPr>
              <a:t>→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ounded Rectangle 100"/>
          <p:cNvSpPr/>
          <p:nvPr/>
        </p:nvSpPr>
        <p:spPr>
          <a:xfrm>
            <a:off x="7812000" y="13878000"/>
            <a:ext cx="6839280" cy="1151280"/>
          </a:xfrm>
          <a:prstGeom prst="roundRect">
            <a:avLst>
              <a:gd name="adj" fmla="val 22000"/>
            </a:avLst>
          </a:prstGeom>
          <a:solidFill>
            <a:srgbClr val="dceafa"/>
          </a:solidFill>
          <a:ln w="20320">
            <a:solidFill>
              <a:srgbClr val="2a78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900" spc="-1" strike="noStrike">
                <a:solidFill>
                  <a:srgbClr val="2a78d6"/>
                </a:solidFill>
                <a:latin typeface="Calibri"/>
                <a:ea typeface="Arial"/>
              </a:rPr>
              <a:t>Análise acústica computacional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900" spc="-1" strike="noStrike">
                <a:solidFill>
                  <a:srgbClr val="2a78d6"/>
                </a:solidFill>
                <a:latin typeface="Calibri"/>
                <a:ea typeface="Arial"/>
              </a:rPr>
              <a:t>não invasiva, a partir da voz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ounded Rectangle 101"/>
          <p:cNvSpPr/>
          <p:nvPr/>
        </p:nvSpPr>
        <p:spPr>
          <a:xfrm>
            <a:off x="16344000" y="13878000"/>
            <a:ext cx="5543280" cy="1151280"/>
          </a:xfrm>
          <a:prstGeom prst="roundRect">
            <a:avLst>
              <a:gd name="adj" fmla="val 22000"/>
            </a:avLst>
          </a:prstGeom>
          <a:solidFill>
            <a:srgbClr val="fbe2d6"/>
          </a:solidFill>
          <a:ln w="20320">
            <a:solidFill>
              <a:srgbClr val="eb68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eb6834"/>
                </a:solidFill>
                <a:latin typeface="Calibri"/>
                <a:ea typeface="Arial"/>
              </a:rPr>
              <a:t>5 condições vocais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eb6834"/>
                </a:solidFill>
                <a:latin typeface="Calibri"/>
                <a:ea typeface="Arial"/>
              </a:rPr>
              <a:t>a partir da voz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ounded Rectangle 102"/>
          <p:cNvSpPr/>
          <p:nvPr/>
        </p:nvSpPr>
        <p:spPr>
          <a:xfrm>
            <a:off x="22140000" y="13878000"/>
            <a:ext cx="5543280" cy="1151280"/>
          </a:xfrm>
          <a:prstGeom prst="roundRect">
            <a:avLst>
              <a:gd name="adj" fmla="val 22000"/>
            </a:avLst>
          </a:prstGeom>
          <a:solidFill>
            <a:srgbClr val="fbe2d6"/>
          </a:solidFill>
          <a:ln w="20320">
            <a:solidFill>
              <a:srgbClr val="eb68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eb6834"/>
                </a:solidFill>
                <a:latin typeface="Calibri"/>
                <a:ea typeface="Arial"/>
              </a:rPr>
              <a:t>Arquitetura hierárquica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eb6834"/>
                </a:solidFill>
                <a:latin typeface="Calibri"/>
                <a:ea typeface="Arial"/>
              </a:rPr>
              <a:t>multi-vogal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103"/>
          <p:cNvSpPr/>
          <p:nvPr/>
        </p:nvSpPr>
        <p:spPr>
          <a:xfrm>
            <a:off x="27936000" y="13878000"/>
            <a:ext cx="5543280" cy="1151280"/>
          </a:xfrm>
          <a:prstGeom prst="roundRect">
            <a:avLst>
              <a:gd name="adj" fmla="val 22000"/>
            </a:avLst>
          </a:prstGeom>
          <a:solidFill>
            <a:srgbClr val="fbe2d6"/>
          </a:solidFill>
          <a:ln w="20320">
            <a:solidFill>
              <a:srgbClr val="eb68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eb6834"/>
                </a:solidFill>
                <a:latin typeface="Calibri"/>
                <a:ea typeface="Arial"/>
              </a:rPr>
              <a:t>Validação rigorosa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eb6834"/>
                </a:solidFill>
                <a:latin typeface="Calibri"/>
                <a:ea typeface="Arial"/>
              </a:rPr>
              <a:t>vs. baselines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104"/>
          <p:cNvSpPr/>
          <p:nvPr/>
        </p:nvSpPr>
        <p:spPr>
          <a:xfrm>
            <a:off x="936000" y="15120000"/>
            <a:ext cx="21599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pt-BR" sz="6000" spc="-1" strike="noStrike">
                <a:solidFill>
                  <a:srgbClr val="1f3b57"/>
                </a:solidFill>
                <a:latin typeface="Calibri"/>
                <a:ea typeface="Arial"/>
              </a:rPr>
              <a:t>MATERIAL E MÉTODOS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Picture 105" descr="pipeline_diagram_v3.png"/>
          <p:cNvPicPr/>
          <p:nvPr/>
        </p:nvPicPr>
        <p:blipFill>
          <a:blip r:embed="rId6"/>
          <a:stretch/>
        </p:blipFill>
        <p:spPr>
          <a:xfrm>
            <a:off x="1362960" y="16038000"/>
            <a:ext cx="31937040" cy="9702000"/>
          </a:xfrm>
          <a:prstGeom prst="rect">
            <a:avLst/>
          </a:prstGeom>
          <a:ln w="0">
            <a:noFill/>
          </a:ln>
        </p:spPr>
      </p:pic>
      <p:sp>
        <p:nvSpPr>
          <p:cNvPr id="67" name="TextBox 106"/>
          <p:cNvSpPr/>
          <p:nvPr/>
        </p:nvSpPr>
        <p:spPr>
          <a:xfrm>
            <a:off x="936000" y="24127560"/>
            <a:ext cx="14399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pt-BR" sz="6000" spc="-1" strike="noStrike">
                <a:solidFill>
                  <a:srgbClr val="1f3b57"/>
                </a:solidFill>
                <a:latin typeface="Calibri"/>
                <a:ea typeface="Arial"/>
              </a:rPr>
              <a:t>RESULTADOS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ounded Rectangle 107"/>
          <p:cNvSpPr/>
          <p:nvPr/>
        </p:nvSpPr>
        <p:spPr>
          <a:xfrm>
            <a:off x="936000" y="25045560"/>
            <a:ext cx="7163280" cy="1403280"/>
          </a:xfrm>
          <a:prstGeom prst="roundRect">
            <a:avLst>
              <a:gd name="adj" fmla="val 12000"/>
            </a:avLst>
          </a:prstGeom>
          <a:solidFill>
            <a:srgbClr val="fceccc"/>
          </a:solidFill>
          <a:ln w="22860">
            <a:solidFill>
              <a:srgbClr val="eda1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3600" spc="-1" strike="noStrike">
                <a:solidFill>
                  <a:srgbClr val="eda100"/>
                </a:solidFill>
                <a:latin typeface="Calibri"/>
                <a:ea typeface="Arial"/>
              </a:rPr>
              <a:t>69,4%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500" spc="-1" strike="noStrike">
                <a:solidFill>
                  <a:srgbClr val="222222"/>
                </a:solidFill>
                <a:latin typeface="Calibri"/>
                <a:ea typeface="Arial"/>
              </a:rPr>
              <a:t>Acurácia global (5-fold CV)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108"/>
          <p:cNvSpPr/>
          <p:nvPr/>
        </p:nvSpPr>
        <p:spPr>
          <a:xfrm>
            <a:off x="8460000" y="25045560"/>
            <a:ext cx="7163280" cy="1403280"/>
          </a:xfrm>
          <a:prstGeom prst="roundRect">
            <a:avLst>
              <a:gd name="adj" fmla="val 12000"/>
            </a:avLst>
          </a:prstGeom>
          <a:solidFill>
            <a:srgbClr val="fae1ec"/>
          </a:solidFill>
          <a:ln w="22860">
            <a:solidFill>
              <a:srgbClr val="e87ba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3600" spc="-1" strike="noStrike">
                <a:solidFill>
                  <a:srgbClr val="e87ba4"/>
                </a:solidFill>
                <a:latin typeface="Calibri"/>
                <a:ea typeface="Arial"/>
              </a:rPr>
              <a:t>0,4435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500" spc="-1" strike="noStrike">
                <a:solidFill>
                  <a:srgbClr val="222222"/>
                </a:solidFill>
                <a:latin typeface="Calibri"/>
                <a:ea typeface="Arial"/>
              </a:rPr>
              <a:t>Macro F1-Score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109"/>
          <p:cNvSpPr/>
          <p:nvPr/>
        </p:nvSpPr>
        <p:spPr>
          <a:xfrm>
            <a:off x="15984000" y="25045560"/>
            <a:ext cx="7163280" cy="1403280"/>
          </a:xfrm>
          <a:prstGeom prst="roundRect">
            <a:avLst>
              <a:gd name="adj" fmla="val 12000"/>
            </a:avLst>
          </a:prstGeom>
          <a:solidFill>
            <a:srgbClr val="dceafa"/>
          </a:solidFill>
          <a:ln w="22860">
            <a:solidFill>
              <a:srgbClr val="2a78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3600" spc="-1" strike="noStrike">
                <a:solidFill>
                  <a:srgbClr val="2a78d6"/>
                </a:solidFill>
                <a:latin typeface="Calibri"/>
                <a:ea typeface="Arial"/>
              </a:rPr>
              <a:t>+5,2 p.p.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500" spc="-1" strike="noStrike">
                <a:solidFill>
                  <a:srgbClr val="222222"/>
                </a:solidFill>
                <a:latin typeface="Calibri"/>
                <a:ea typeface="Arial"/>
              </a:rPr>
              <a:t>vs. arquitetura de camada única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ounded Rectangle 110"/>
          <p:cNvSpPr/>
          <p:nvPr/>
        </p:nvSpPr>
        <p:spPr>
          <a:xfrm>
            <a:off x="23508000" y="25045560"/>
            <a:ext cx="7163280" cy="1403280"/>
          </a:xfrm>
          <a:prstGeom prst="roundRect">
            <a:avLst>
              <a:gd name="adj" fmla="val 12000"/>
            </a:avLst>
          </a:prstGeom>
          <a:solidFill>
            <a:srgbClr val="d5f1e7"/>
          </a:solidFill>
          <a:ln w="22860">
            <a:solidFill>
              <a:srgbClr val="1baf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3600" spc="-1" strike="noStrike">
                <a:solidFill>
                  <a:srgbClr val="1baf7a"/>
                </a:solidFill>
                <a:latin typeface="Calibri"/>
                <a:ea typeface="Arial"/>
              </a:rPr>
              <a:t>0,871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500" spc="-1" strike="noStrike">
                <a:solidFill>
                  <a:srgbClr val="222222"/>
                </a:solidFill>
                <a:latin typeface="Calibri"/>
                <a:ea typeface="Arial"/>
              </a:rPr>
              <a:t>F1-Score da classe Normal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Picture 111" descr="confusion_matrix_poster.png"/>
          <p:cNvPicPr/>
          <p:nvPr/>
        </p:nvPicPr>
        <p:blipFill>
          <a:blip r:embed="rId7"/>
          <a:stretch/>
        </p:blipFill>
        <p:spPr>
          <a:xfrm>
            <a:off x="936000" y="26539560"/>
            <a:ext cx="7199280" cy="5860440"/>
          </a:xfrm>
          <a:prstGeom prst="rect">
            <a:avLst/>
          </a:prstGeom>
          <a:ln w="0">
            <a:noFill/>
          </a:ln>
        </p:spPr>
      </p:pic>
      <p:sp>
        <p:nvSpPr>
          <p:cNvPr id="73" name="TextBox 112"/>
          <p:cNvSpPr/>
          <p:nvPr/>
        </p:nvSpPr>
        <p:spPr>
          <a:xfrm>
            <a:off x="936000" y="32418360"/>
            <a:ext cx="71992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Matriz de confusão — maior confusão entre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disfonias psicogênica e funcional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113" descr="f1_bar_poster.png"/>
          <p:cNvPicPr/>
          <p:nvPr/>
        </p:nvPicPr>
        <p:blipFill>
          <a:blip r:embed="rId8"/>
          <a:stretch/>
        </p:blipFill>
        <p:spPr>
          <a:xfrm>
            <a:off x="10116000" y="26539560"/>
            <a:ext cx="7199280" cy="4515480"/>
          </a:xfrm>
          <a:prstGeom prst="rect">
            <a:avLst/>
          </a:prstGeom>
          <a:ln w="0">
            <a:noFill/>
          </a:ln>
        </p:spPr>
      </p:pic>
      <p:sp>
        <p:nvSpPr>
          <p:cNvPr id="75" name="TextBox 114"/>
          <p:cNvSpPr/>
          <p:nvPr/>
        </p:nvSpPr>
        <p:spPr>
          <a:xfrm>
            <a:off x="10116000" y="31073760"/>
            <a:ext cx="71992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F1-Score por classe — Normal e Reinke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se destacam dos demais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115" descr="evolution_poster.png"/>
          <p:cNvPicPr/>
          <p:nvPr/>
        </p:nvPicPr>
        <p:blipFill>
          <a:blip r:embed="rId9"/>
          <a:stretch/>
        </p:blipFill>
        <p:spPr>
          <a:xfrm>
            <a:off x="19296000" y="26539560"/>
            <a:ext cx="7199280" cy="4362840"/>
          </a:xfrm>
          <a:prstGeom prst="rect">
            <a:avLst/>
          </a:prstGeom>
          <a:ln w="0">
            <a:noFill/>
          </a:ln>
        </p:spPr>
      </p:pic>
      <p:sp>
        <p:nvSpPr>
          <p:cNvPr id="77" name="TextBox 116"/>
          <p:cNvSpPr/>
          <p:nvPr/>
        </p:nvSpPr>
        <p:spPr>
          <a:xfrm>
            <a:off x="19296000" y="30920760"/>
            <a:ext cx="71992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Evolução da arquitetura — fusão hierárquica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supera versões anteriores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17"/>
          <p:cNvSpPr/>
          <p:nvPr/>
        </p:nvSpPr>
        <p:spPr>
          <a:xfrm>
            <a:off x="936000" y="33246360"/>
            <a:ext cx="14399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pt-BR" sz="6000" spc="-1" strike="noStrike">
                <a:solidFill>
                  <a:srgbClr val="1f3b57"/>
                </a:solidFill>
                <a:latin typeface="Calibri"/>
                <a:ea typeface="Arial"/>
              </a:rPr>
              <a:t>CONCLUSÃO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18"/>
          <p:cNvSpPr/>
          <p:nvPr/>
        </p:nvSpPr>
        <p:spPr>
          <a:xfrm>
            <a:off x="18720000" y="33246360"/>
            <a:ext cx="12599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pt-BR" sz="6000" spc="-1" strike="noStrike">
                <a:solidFill>
                  <a:srgbClr val="1f3b57"/>
                </a:solidFill>
                <a:latin typeface="Calibri"/>
                <a:ea typeface="Arial"/>
              </a:rPr>
              <a:t>REFERÊNCIAS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119"/>
          <p:cNvSpPr/>
          <p:nvPr/>
        </p:nvSpPr>
        <p:spPr>
          <a:xfrm>
            <a:off x="936000" y="34164360"/>
            <a:ext cx="5399280" cy="1295280"/>
          </a:xfrm>
          <a:prstGeom prst="roundRect">
            <a:avLst>
              <a:gd name="adj" fmla="val 22000"/>
            </a:avLst>
          </a:prstGeom>
          <a:solidFill>
            <a:srgbClr val="daf2da"/>
          </a:solidFill>
          <a:ln w="20320">
            <a:solidFill>
              <a:srgbClr val="0ca3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ca30c"/>
                </a:solidFill>
                <a:latin typeface="Calibri"/>
                <a:ea typeface="Arial"/>
              </a:rPr>
              <a:t>Normal e Reinke: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ca30c"/>
                </a:solidFill>
                <a:latin typeface="Calibri"/>
                <a:ea typeface="Arial"/>
              </a:rPr>
              <a:t>bem discriminados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120"/>
          <p:cNvSpPr/>
          <p:nvPr/>
        </p:nvSpPr>
        <p:spPr>
          <a:xfrm>
            <a:off x="6624000" y="34164360"/>
            <a:ext cx="5399280" cy="1295280"/>
          </a:xfrm>
          <a:prstGeom prst="roundRect">
            <a:avLst>
              <a:gd name="adj" fmla="val 22000"/>
            </a:avLst>
          </a:prstGeom>
          <a:solidFill>
            <a:srgbClr val="fcefd2"/>
          </a:solidFill>
          <a:ln w="20320">
            <a:solidFill>
              <a:srgbClr val="c98b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c98b00"/>
                </a:solidFill>
                <a:latin typeface="Calibri"/>
                <a:ea typeface="Arial"/>
              </a:rPr>
              <a:t>Psicogênica × Funcional: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c98b00"/>
                </a:solidFill>
                <a:latin typeface="Calibri"/>
                <a:ea typeface="Arial"/>
              </a:rPr>
              <a:t>teto de separabilidade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121"/>
          <p:cNvSpPr/>
          <p:nvPr/>
        </p:nvSpPr>
        <p:spPr>
          <a:xfrm>
            <a:off x="12312000" y="34164360"/>
            <a:ext cx="4679280" cy="1295280"/>
          </a:xfrm>
          <a:prstGeom prst="roundRect">
            <a:avLst>
              <a:gd name="adj" fmla="val 22000"/>
            </a:avLst>
          </a:prstGeom>
          <a:solidFill>
            <a:srgbClr val="dceafa"/>
          </a:solidFill>
          <a:ln w="20320">
            <a:solidFill>
              <a:srgbClr val="2a78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6000" rIns="12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2a78d6"/>
                </a:solidFill>
                <a:latin typeface="Calibri"/>
                <a:ea typeface="Arial"/>
              </a:rPr>
              <a:t>+5,2 p.p. 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2a78d6"/>
                </a:solidFill>
                <a:latin typeface="Calibri"/>
                <a:ea typeface="Arial"/>
              </a:rPr>
              <a:t>acurácia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122" descr="qr_github.png"/>
          <p:cNvPicPr/>
          <p:nvPr/>
        </p:nvPicPr>
        <p:blipFill>
          <a:blip r:embed="rId10"/>
          <a:stretch/>
        </p:blipFill>
        <p:spPr>
          <a:xfrm>
            <a:off x="18720000" y="34164360"/>
            <a:ext cx="1655280" cy="1655280"/>
          </a:xfrm>
          <a:prstGeom prst="rect">
            <a:avLst/>
          </a:prstGeom>
          <a:ln w="0">
            <a:noFill/>
          </a:ln>
        </p:spPr>
      </p:pic>
      <p:sp>
        <p:nvSpPr>
          <p:cNvPr id="84" name="TextBox 123"/>
          <p:cNvSpPr/>
          <p:nvPr/>
        </p:nvSpPr>
        <p:spPr>
          <a:xfrm>
            <a:off x="20592000" y="34344360"/>
            <a:ext cx="71992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Código-fonte 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pt-BR" sz="2000" spc="-1" strike="noStrike">
                <a:solidFill>
                  <a:srgbClr val="606060"/>
                </a:solidFill>
                <a:latin typeface="Calibri"/>
                <a:ea typeface="Arial"/>
              </a:rPr>
              <a:t>referências completas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2021-09-08T13:51:19Z</dcterms:created>
  <dc:creator>Alessandro</dc:creator>
  <dc:description/>
  <dc:language>pt-BR</dc:language>
  <cp:lastModifiedBy/>
  <dcterms:modified xsi:type="dcterms:W3CDTF">2026-07-27T22:27:39Z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