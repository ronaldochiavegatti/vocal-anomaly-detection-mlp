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</p:sldIdLst>
  <p:sldSz cx="32404050" cy="432054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0328E56-B9B6-4426-BD4E-D686F34F29F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620000" y="1723680"/>
            <a:ext cx="29162880" cy="721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1620000" y="10109880"/>
            <a:ext cx="29162880" cy="2505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9BCDA23-E7EC-46FB-A2D8-DF3A0E688C8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620000" y="1723680"/>
            <a:ext cx="29162880" cy="721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ubTitle"/>
          </p:nvPr>
        </p:nvSpPr>
        <p:spPr>
          <a:xfrm>
            <a:off x="1620000" y="10109880"/>
            <a:ext cx="29162880" cy="2505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D5BD5AC-003A-4038-AAD5-83F9509EEF7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0BB8792-DD86-48D1-BE1C-E70309427F3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67ED068-D63D-4D3A-B503-995633B55B0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471712C-53FD-4938-ADF2-11814F016FF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90DA8CF-13BB-4EF2-9533-ABD96D363DD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1620000" y="1723680"/>
            <a:ext cx="29162880" cy="721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C36AB2B-E3F8-4F84-9D5C-7BE6554666C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912750D-5433-419E-BA73-1C77AD94698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1620000" y="1723680"/>
            <a:ext cx="29162880" cy="7214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/>
          </p:nvPr>
        </p:nvSpPr>
        <p:spPr>
          <a:xfrm>
            <a:off x="1620000" y="10109880"/>
            <a:ext cx="14231160" cy="2505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/>
          </p:nvPr>
        </p:nvSpPr>
        <p:spPr>
          <a:xfrm>
            <a:off x="16563240" y="10109880"/>
            <a:ext cx="14231160" cy="2505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87F2AF4-60E7-4444-8F7A-E280C7062E0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60CE68C-E8C8-4913-AC46-DD958819CEE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11071080" y="39344760"/>
            <a:ext cx="102596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23223600" y="39344760"/>
            <a:ext cx="75578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720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4C55ACB-3C43-4641-B08B-690457F51D32}" type="slidenum">
              <a:rPr b="0" lang="en-US" sz="7200" spc="-1" strike="noStrike">
                <a:solidFill>
                  <a:schemeClr val="dk1"/>
                </a:solidFill>
                <a:latin typeface="Arial"/>
                <a:ea typeface="Arial"/>
              </a:rPr>
              <a:t>1</a:t>
            </a:fld>
            <a:endParaRPr b="0" lang="pt-BR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1620720" y="39344760"/>
            <a:ext cx="75578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620000" y="1723680"/>
            <a:ext cx="29162520" cy="721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q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p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i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f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r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m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a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e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x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d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o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 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í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t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u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l</a:t>
            </a: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1620000" y="10109880"/>
            <a:ext cx="29162520" cy="2505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ftr" idx="4"/>
          </p:nvPr>
        </p:nvSpPr>
        <p:spPr>
          <a:xfrm>
            <a:off x="11071080" y="39344760"/>
            <a:ext cx="102596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5"/>
          </p:nvPr>
        </p:nvSpPr>
        <p:spPr>
          <a:xfrm>
            <a:off x="23223600" y="39344760"/>
            <a:ext cx="75578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720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1AEFC33-446D-4D3B-B926-640C6BE53508}" type="slidenum">
              <a:rPr b="0" lang="en-US" sz="7200" spc="-1" strike="noStrike">
                <a:solidFill>
                  <a:schemeClr val="dk1"/>
                </a:solidFill>
                <a:latin typeface="Arial"/>
                <a:ea typeface="Arial"/>
              </a:rPr>
              <a:t>&lt;número&gt;</a:t>
            </a:fld>
            <a:endParaRPr b="0" lang="pt-BR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dt" idx="6"/>
          </p:nvPr>
        </p:nvSpPr>
        <p:spPr>
          <a:xfrm>
            <a:off x="1620720" y="39344760"/>
            <a:ext cx="75578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1620000" y="1723680"/>
            <a:ext cx="29162520" cy="721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ftr" idx="7"/>
          </p:nvPr>
        </p:nvSpPr>
        <p:spPr>
          <a:xfrm>
            <a:off x="11071080" y="39344760"/>
            <a:ext cx="102596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sldNum" idx="8"/>
          </p:nvPr>
        </p:nvSpPr>
        <p:spPr>
          <a:xfrm>
            <a:off x="23223600" y="39344760"/>
            <a:ext cx="75578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720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3D0A839-53D9-4469-932F-1E5A91AA1010}" type="slidenum">
              <a:rPr b="0" lang="en-US" sz="7200" spc="-1" strike="noStrike">
                <a:solidFill>
                  <a:schemeClr val="dk1"/>
                </a:solidFill>
                <a:latin typeface="Arial"/>
                <a:ea typeface="Arial"/>
              </a:rPr>
              <a:t>&lt;número&gt;</a:t>
            </a:fld>
            <a:endParaRPr b="0" lang="pt-BR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dt" idx="9"/>
          </p:nvPr>
        </p:nvSpPr>
        <p:spPr>
          <a:xfrm>
            <a:off x="1620720" y="39344760"/>
            <a:ext cx="75578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ftr" idx="10"/>
          </p:nvPr>
        </p:nvSpPr>
        <p:spPr>
          <a:xfrm>
            <a:off x="11071080" y="39344760"/>
            <a:ext cx="102596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sldNum" idx="11"/>
          </p:nvPr>
        </p:nvSpPr>
        <p:spPr>
          <a:xfrm>
            <a:off x="23223600" y="39344760"/>
            <a:ext cx="75578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720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CEBB59B-9F55-4FF0-B949-5240E823AB2E}" type="slidenum">
              <a:rPr b="0" lang="en-US" sz="7200" spc="-1" strike="noStrike">
                <a:solidFill>
                  <a:schemeClr val="dk1"/>
                </a:solidFill>
                <a:latin typeface="Arial"/>
                <a:ea typeface="Arial"/>
              </a:rPr>
              <a:t>&lt;número&gt;</a:t>
            </a:fld>
            <a:endParaRPr b="0" lang="pt-BR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2"/>
          </p:nvPr>
        </p:nvSpPr>
        <p:spPr>
          <a:xfrm>
            <a:off x="1620720" y="39344760"/>
            <a:ext cx="75578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ftr" idx="13"/>
          </p:nvPr>
        </p:nvSpPr>
        <p:spPr>
          <a:xfrm>
            <a:off x="11071080" y="39344760"/>
            <a:ext cx="102596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14"/>
          </p:nvPr>
        </p:nvSpPr>
        <p:spPr>
          <a:xfrm>
            <a:off x="23223600" y="39344760"/>
            <a:ext cx="75578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720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8F89E4E-BFB2-4BA7-AD8B-F93A2ACE89C5}" type="slidenum">
              <a:rPr b="0" lang="en-US" sz="7200" spc="-1" strike="noStrike">
                <a:solidFill>
                  <a:schemeClr val="dk1"/>
                </a:solidFill>
                <a:latin typeface="Arial"/>
                <a:ea typeface="Arial"/>
              </a:rPr>
              <a:t>&lt;número&gt;</a:t>
            </a:fld>
            <a:endParaRPr b="0" lang="pt-BR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5"/>
          </p:nvPr>
        </p:nvSpPr>
        <p:spPr>
          <a:xfrm>
            <a:off x="1620720" y="39344760"/>
            <a:ext cx="75578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ftr" idx="16"/>
          </p:nvPr>
        </p:nvSpPr>
        <p:spPr>
          <a:xfrm>
            <a:off x="11071080" y="39344760"/>
            <a:ext cx="102596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sldNum" idx="17"/>
          </p:nvPr>
        </p:nvSpPr>
        <p:spPr>
          <a:xfrm>
            <a:off x="23223600" y="39344760"/>
            <a:ext cx="75578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720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11D9D27-8471-48FC-8393-DB5B63279E24}" type="slidenum">
              <a:rPr b="0" lang="en-US" sz="7200" spc="-1" strike="noStrike">
                <a:solidFill>
                  <a:schemeClr val="dk1"/>
                </a:solidFill>
                <a:latin typeface="Arial"/>
                <a:ea typeface="Arial"/>
              </a:rPr>
              <a:t>&lt;número&gt;</a:t>
            </a:fld>
            <a:endParaRPr b="0" lang="pt-BR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8"/>
          </p:nvPr>
        </p:nvSpPr>
        <p:spPr>
          <a:xfrm>
            <a:off x="1620720" y="39344760"/>
            <a:ext cx="75578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ftr" idx="19"/>
          </p:nvPr>
        </p:nvSpPr>
        <p:spPr>
          <a:xfrm>
            <a:off x="11071080" y="39344760"/>
            <a:ext cx="102596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sldNum" idx="20"/>
          </p:nvPr>
        </p:nvSpPr>
        <p:spPr>
          <a:xfrm>
            <a:off x="23223600" y="39344760"/>
            <a:ext cx="75578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720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E86D55F-BA08-4967-9B75-AE9043411EFA}" type="slidenum">
              <a:rPr b="0" lang="en-US" sz="7200" spc="-1" strike="noStrike">
                <a:solidFill>
                  <a:schemeClr val="dk1"/>
                </a:solidFill>
                <a:latin typeface="Arial"/>
                <a:ea typeface="Arial"/>
              </a:rPr>
              <a:t>&lt;número&gt;</a:t>
            </a:fld>
            <a:endParaRPr b="0" lang="pt-BR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21"/>
          </p:nvPr>
        </p:nvSpPr>
        <p:spPr>
          <a:xfrm>
            <a:off x="1620720" y="39344760"/>
            <a:ext cx="75578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620000" y="1723680"/>
            <a:ext cx="29162520" cy="721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ftr" idx="22"/>
          </p:nvPr>
        </p:nvSpPr>
        <p:spPr>
          <a:xfrm>
            <a:off x="11071080" y="39344760"/>
            <a:ext cx="102596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sldNum" idx="23"/>
          </p:nvPr>
        </p:nvSpPr>
        <p:spPr>
          <a:xfrm>
            <a:off x="23223600" y="39344760"/>
            <a:ext cx="75578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720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D24D47F-D5EF-4AB5-9A71-B270AB29B745}" type="slidenum">
              <a:rPr b="0" lang="en-US" sz="7200" spc="-1" strike="noStrike">
                <a:solidFill>
                  <a:schemeClr val="dk1"/>
                </a:solidFill>
                <a:latin typeface="Arial"/>
                <a:ea typeface="Arial"/>
              </a:rPr>
              <a:t>&lt;número&gt;</a:t>
            </a:fld>
            <a:endParaRPr b="0" lang="pt-BR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24"/>
          </p:nvPr>
        </p:nvSpPr>
        <p:spPr>
          <a:xfrm>
            <a:off x="1620720" y="39344760"/>
            <a:ext cx="75578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ftr" idx="25"/>
          </p:nvPr>
        </p:nvSpPr>
        <p:spPr>
          <a:xfrm>
            <a:off x="11071080" y="39344760"/>
            <a:ext cx="102596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sldNum" idx="26"/>
          </p:nvPr>
        </p:nvSpPr>
        <p:spPr>
          <a:xfrm>
            <a:off x="23223600" y="39344760"/>
            <a:ext cx="75578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720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6A0096A-B294-4C8F-8A23-86017A998200}" type="slidenum">
              <a:rPr b="0" lang="en-US" sz="7200" spc="-1" strike="noStrike">
                <a:solidFill>
                  <a:schemeClr val="dk1"/>
                </a:solidFill>
                <a:latin typeface="Arial"/>
                <a:ea typeface="Arial"/>
              </a:rPr>
              <a:t>&lt;número&gt;</a:t>
            </a:fld>
            <a:endParaRPr b="0" lang="pt-BR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27"/>
          </p:nvPr>
        </p:nvSpPr>
        <p:spPr>
          <a:xfrm>
            <a:off x="1620720" y="39344760"/>
            <a:ext cx="75578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620000" y="1723680"/>
            <a:ext cx="29162520" cy="721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1620000" y="10109880"/>
            <a:ext cx="14230800" cy="2505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16563240" y="10109880"/>
            <a:ext cx="14230800" cy="2505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de texto dos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2.º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3.º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4.º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5.º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6.º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7.º nível de tópicos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28"/>
          </p:nvPr>
        </p:nvSpPr>
        <p:spPr>
          <a:xfrm>
            <a:off x="11071080" y="39344760"/>
            <a:ext cx="102596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29"/>
          </p:nvPr>
        </p:nvSpPr>
        <p:spPr>
          <a:xfrm>
            <a:off x="23223600" y="39344760"/>
            <a:ext cx="75578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720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F294E2F-9574-4F1D-9B85-AE03A5C9C915}" type="slidenum">
              <a:rPr b="0" lang="en-US" sz="7200" spc="-1" strike="noStrike">
                <a:solidFill>
                  <a:schemeClr val="dk1"/>
                </a:solidFill>
                <a:latin typeface="Arial"/>
                <a:ea typeface="Arial"/>
              </a:rPr>
              <a:t>&lt;número&gt;</a:t>
            </a:fld>
            <a:endParaRPr b="0" lang="pt-BR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dt" idx="30"/>
          </p:nvPr>
        </p:nvSpPr>
        <p:spPr>
          <a:xfrm>
            <a:off x="1620720" y="39344760"/>
            <a:ext cx="75578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ftr" idx="31"/>
          </p:nvPr>
        </p:nvSpPr>
        <p:spPr>
          <a:xfrm>
            <a:off x="11071080" y="39344760"/>
            <a:ext cx="102596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32"/>
          </p:nvPr>
        </p:nvSpPr>
        <p:spPr>
          <a:xfrm>
            <a:off x="23223600" y="39344760"/>
            <a:ext cx="75578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720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B382D13-97C5-4335-BC93-07DF114D8857}" type="slidenum">
              <a:rPr b="0" lang="en-US" sz="7200" spc="-1" strike="noStrike">
                <a:solidFill>
                  <a:schemeClr val="dk1"/>
                </a:solidFill>
                <a:latin typeface="Arial"/>
                <a:ea typeface="Arial"/>
              </a:rPr>
              <a:t>&lt;número&gt;</a:t>
            </a:fld>
            <a:endParaRPr b="0" lang="pt-BR" sz="7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33"/>
          </p:nvPr>
        </p:nvSpPr>
        <p:spPr>
          <a:xfrm>
            <a:off x="1620720" y="39344760"/>
            <a:ext cx="7557840" cy="3000240"/>
          </a:xfrm>
          <a:prstGeom prst="rect">
            <a:avLst/>
          </a:prstGeom>
          <a:noFill/>
          <a:ln w="0">
            <a:noFill/>
          </a:ln>
        </p:spPr>
        <p:txBody>
          <a:bodyPr lIns="473040" rIns="473040" tIns="236520" bIns="23652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slideLayout" Target="../slideLayouts/slideLayout1.xml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155"/>
          <p:cNvSpPr/>
          <p:nvPr/>
        </p:nvSpPr>
        <p:spPr>
          <a:xfrm>
            <a:off x="0" y="10378440"/>
            <a:ext cx="16184160" cy="3519720"/>
          </a:xfrm>
          <a:prstGeom prst="rect">
            <a:avLst/>
          </a:prstGeom>
          <a:solidFill>
            <a:srgbClr val="f6f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49" name="Rectangle 156"/>
          <p:cNvSpPr/>
          <p:nvPr/>
        </p:nvSpPr>
        <p:spPr>
          <a:xfrm>
            <a:off x="16184880" y="10378440"/>
            <a:ext cx="16218360" cy="3519720"/>
          </a:xfrm>
          <a:prstGeom prst="rect">
            <a:avLst/>
          </a:prstGeom>
          <a:solidFill>
            <a:srgbClr val="fe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50" name="Rectangle 157"/>
          <p:cNvSpPr/>
          <p:nvPr/>
        </p:nvSpPr>
        <p:spPr>
          <a:xfrm>
            <a:off x="0" y="13716000"/>
            <a:ext cx="32403240" cy="8274600"/>
          </a:xfrm>
          <a:prstGeom prst="rect">
            <a:avLst/>
          </a:prstGeom>
          <a:solidFill>
            <a:srgbClr val="f5f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51" name="Rectangle 158"/>
          <p:cNvSpPr/>
          <p:nvPr/>
        </p:nvSpPr>
        <p:spPr>
          <a:xfrm>
            <a:off x="0" y="21899880"/>
            <a:ext cx="32403240" cy="15452640"/>
          </a:xfrm>
          <a:prstGeom prst="rect">
            <a:avLst/>
          </a:prstGeom>
          <a:solidFill>
            <a:srgbClr val="f6f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52" name="Rectangle 159"/>
          <p:cNvSpPr/>
          <p:nvPr/>
        </p:nvSpPr>
        <p:spPr>
          <a:xfrm>
            <a:off x="0" y="37261800"/>
            <a:ext cx="16915680" cy="3748320"/>
          </a:xfrm>
          <a:prstGeom prst="rect">
            <a:avLst/>
          </a:prstGeom>
          <a:solidFill>
            <a:srgbClr val="f6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53" name="Rectangle 160"/>
          <p:cNvSpPr/>
          <p:nvPr/>
        </p:nvSpPr>
        <p:spPr>
          <a:xfrm>
            <a:off x="16916400" y="37261800"/>
            <a:ext cx="15486840" cy="37483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pic>
        <p:nvPicPr>
          <p:cNvPr id="54" name="Google Shape;84;g37106c98961_0_150" descr=""/>
          <p:cNvPicPr/>
          <p:nvPr/>
        </p:nvPicPr>
        <p:blipFill>
          <a:blip r:embed="rId1"/>
          <a:stretch/>
        </p:blipFill>
        <p:spPr>
          <a:xfrm>
            <a:off x="0" y="0"/>
            <a:ext cx="32402160" cy="6154920"/>
          </a:xfrm>
          <a:prstGeom prst="rect">
            <a:avLst/>
          </a:prstGeom>
          <a:ln w="0">
            <a:noFill/>
          </a:ln>
        </p:spPr>
      </p:pic>
      <p:pic>
        <p:nvPicPr>
          <p:cNvPr id="55" name="Google Shape;89;g37106c98961_0_150" descr=""/>
          <p:cNvPicPr/>
          <p:nvPr/>
        </p:nvPicPr>
        <p:blipFill>
          <a:blip r:embed="rId2"/>
          <a:stretch/>
        </p:blipFill>
        <p:spPr>
          <a:xfrm flipH="1" rot="10800000">
            <a:off x="0" y="41010480"/>
            <a:ext cx="32402160" cy="258840"/>
          </a:xfrm>
          <a:prstGeom prst="rect">
            <a:avLst/>
          </a:prstGeom>
          <a:ln w="0">
            <a:noFill/>
          </a:ln>
        </p:spPr>
      </p:pic>
      <p:pic>
        <p:nvPicPr>
          <p:cNvPr id="56" name="Picture 122" descr="qr_github.png"/>
          <p:cNvPicPr/>
          <p:nvPr/>
        </p:nvPicPr>
        <p:blipFill>
          <a:blip r:embed="rId3"/>
          <a:stretch/>
        </p:blipFill>
        <p:spPr>
          <a:xfrm>
            <a:off x="29556000" y="38448000"/>
            <a:ext cx="1798920" cy="1798920"/>
          </a:xfrm>
          <a:prstGeom prst="rect">
            <a:avLst/>
          </a:prstGeom>
          <a:ln w="0">
            <a:noFill/>
          </a:ln>
        </p:spPr>
      </p:pic>
      <p:sp>
        <p:nvSpPr>
          <p:cNvPr id="57" name="TextBox 83"/>
          <p:cNvSpPr/>
          <p:nvPr/>
        </p:nvSpPr>
        <p:spPr>
          <a:xfrm>
            <a:off x="936000" y="6194520"/>
            <a:ext cx="30526920" cy="240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4000"/>
              </a:lnSpc>
            </a:pPr>
            <a:r>
              <a:rPr b="1" lang="pt-BR" sz="8400" spc="-1" strike="noStrike">
                <a:solidFill>
                  <a:srgbClr val="1f3b57"/>
                </a:solidFill>
                <a:latin typeface="Arial"/>
              </a:rPr>
              <a:t>IDENTIFICAÇÃO COMPUTACIONAL INTELIGENTE</a:t>
            </a:r>
            <a:endParaRPr b="0" lang="pt-BR" sz="8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4000"/>
              </a:lnSpc>
            </a:pPr>
            <a:r>
              <a:rPr b="1" lang="pt-BR" sz="8400" spc="-1" strike="noStrike">
                <a:solidFill>
                  <a:srgbClr val="1f3b57"/>
                </a:solidFill>
                <a:latin typeface="Arial"/>
              </a:rPr>
              <a:t>DE DISFUNÇÕES NO TRATO VOCAL</a:t>
            </a:r>
            <a:endParaRPr b="0" lang="pt-BR" sz="8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Box 84"/>
          <p:cNvSpPr/>
          <p:nvPr/>
        </p:nvSpPr>
        <p:spPr>
          <a:xfrm>
            <a:off x="936000" y="8633520"/>
            <a:ext cx="3052692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2000"/>
              </a:lnSpc>
            </a:pPr>
            <a:r>
              <a:rPr b="1" lang="pt-BR" sz="4200" spc="-1" strike="noStrike">
                <a:solidFill>
                  <a:srgbClr val="1e1e1e"/>
                </a:solidFill>
                <a:latin typeface="Arial"/>
              </a:rPr>
              <a:t>Ronaldo Chiavegatti Sampaio Corrêa</a:t>
            </a:r>
            <a:r>
              <a:rPr b="0" lang="pt-BR" sz="4200" spc="-1" strike="noStrike">
                <a:solidFill>
                  <a:srgbClr val="777777"/>
                </a:solidFill>
                <a:latin typeface="Arial"/>
              </a:rPr>
              <a:t>     |     </a:t>
            </a:r>
            <a:r>
              <a:rPr b="0" lang="pt-BR" sz="4200" spc="-1" strike="noStrike">
                <a:solidFill>
                  <a:srgbClr val="1e1e1e"/>
                </a:solidFill>
                <a:latin typeface="Arial"/>
              </a:rPr>
              <a:t>Rodrigo Capobianco Guido</a:t>
            </a:r>
            <a:r>
              <a:rPr b="0" lang="pt-BR" sz="3800" spc="-1" strike="noStrike">
                <a:solidFill>
                  <a:srgbClr val="777777"/>
                </a:solidFill>
                <a:latin typeface="Arial"/>
              </a:rPr>
              <a:t>  (Orientador)</a:t>
            </a:r>
            <a:endParaRPr b="0" lang="pt-BR" sz="3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85"/>
          <p:cNvSpPr/>
          <p:nvPr/>
        </p:nvSpPr>
        <p:spPr>
          <a:xfrm>
            <a:off x="936000" y="9258840"/>
            <a:ext cx="305269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2000"/>
              </a:lnSpc>
            </a:pPr>
            <a:r>
              <a:rPr b="0" lang="pt-BR" sz="3500" spc="-1" strike="noStrike">
                <a:solidFill>
                  <a:srgbClr val="4e4e4e"/>
                </a:solidFill>
                <a:latin typeface="Arial"/>
              </a:rPr>
              <a:t>Instituto de Biociências, Letras e Ciências Exatas — IBILCE/Unesp · Câmpus de São José do Rio Preto</a:t>
            </a:r>
            <a:endParaRPr b="0" lang="pt-BR" sz="3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86"/>
          <p:cNvSpPr/>
          <p:nvPr/>
        </p:nvSpPr>
        <p:spPr>
          <a:xfrm>
            <a:off x="8640000" y="9864000"/>
            <a:ext cx="15118920" cy="682920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 w="15240">
            <a:solidFill>
              <a:srgbClr val="d8dde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8000" rIns="108000" tIns="36000" bIns="36000" anchor="ctr">
            <a:noAutofit/>
          </a:bodyPr>
          <a:p>
            <a:pPr algn="ctr">
              <a:lnSpc>
                <a:spcPct val="92000"/>
              </a:lnSpc>
            </a:pPr>
            <a:r>
              <a:rPr b="0" lang="pt-BR" sz="2400" spc="-1" strike="noStrike">
                <a:solidFill>
                  <a:srgbClr val="4e4e4e"/>
                </a:solidFill>
                <a:latin typeface="Arial"/>
              </a:rPr>
              <a:t>Iniciação Científica Voluntária — PIBIC/Unesp, sem bolsa     ·     </a:t>
            </a:r>
            <a:r>
              <a:rPr b="1" lang="pt-BR" sz="2400" spc="-1" strike="noStrike">
                <a:solidFill>
                  <a:srgbClr val="1e1e1e"/>
                </a:solidFill>
                <a:latin typeface="Arial"/>
              </a:rPr>
              <a:t>pipeline em C99, sem frameworks de ML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Rounded Rectangle 87"/>
          <p:cNvSpPr/>
          <p:nvPr/>
        </p:nvSpPr>
        <p:spPr>
          <a:xfrm>
            <a:off x="936000" y="10926000"/>
            <a:ext cx="178920" cy="64692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62" name="TextBox 88"/>
          <p:cNvSpPr/>
          <p:nvPr/>
        </p:nvSpPr>
        <p:spPr>
          <a:xfrm>
            <a:off x="1314000" y="10840320"/>
            <a:ext cx="14452920" cy="85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92000"/>
              </a:lnSpc>
            </a:pPr>
            <a:r>
              <a:rPr b="1" lang="pt-BR" sz="6100" spc="-1" strike="noStrike">
                <a:solidFill>
                  <a:srgbClr val="2a78d6"/>
                </a:solidFill>
                <a:latin typeface="Arial"/>
              </a:rPr>
              <a:t>O PROBLEMA</a:t>
            </a:r>
            <a:endParaRPr b="0" lang="pt-BR" sz="6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Rounded Rectangle 89"/>
          <p:cNvSpPr/>
          <p:nvPr/>
        </p:nvSpPr>
        <p:spPr>
          <a:xfrm>
            <a:off x="16632000" y="10926000"/>
            <a:ext cx="178920" cy="646920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64" name="TextBox 90"/>
          <p:cNvSpPr/>
          <p:nvPr/>
        </p:nvSpPr>
        <p:spPr>
          <a:xfrm>
            <a:off x="17010000" y="10840320"/>
            <a:ext cx="14452920" cy="85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92000"/>
              </a:lnSpc>
            </a:pPr>
            <a:r>
              <a:rPr b="1" lang="pt-BR" sz="6100" spc="-1" strike="noStrike">
                <a:solidFill>
                  <a:srgbClr val="eb6834"/>
                </a:solidFill>
                <a:latin typeface="Arial"/>
              </a:rPr>
              <a:t>OBJETIVOS</a:t>
            </a:r>
            <a:endParaRPr b="0" lang="pt-BR" sz="6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Rounded Rectangle 91"/>
          <p:cNvSpPr/>
          <p:nvPr/>
        </p:nvSpPr>
        <p:spPr>
          <a:xfrm>
            <a:off x="936000" y="11844000"/>
            <a:ext cx="6334920" cy="18709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0320">
            <a:solidFill>
              <a:srgbClr val="2a78d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8000" rIns="108000" tIns="36000" bIns="36000" anchor="ctr">
            <a:noAutofit/>
          </a:bodyPr>
          <a:p>
            <a:pPr algn="ctr">
              <a:lnSpc>
                <a:spcPct val="92000"/>
              </a:lnSpc>
            </a:pPr>
            <a:r>
              <a:rPr b="0" lang="pt-BR" sz="3100" spc="-1" strike="noStrike">
                <a:solidFill>
                  <a:srgbClr val="777777"/>
                </a:solidFill>
                <a:latin typeface="Arial"/>
              </a:rPr>
              <a:t>hoje</a:t>
            </a:r>
            <a:endParaRPr b="0" lang="pt-BR" sz="31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2000"/>
              </a:lnSpc>
            </a:pPr>
            <a:r>
              <a:rPr b="1" lang="pt-BR" sz="3400" spc="-1" strike="noStrike">
                <a:solidFill>
                  <a:srgbClr val="1e1e1e"/>
                </a:solidFill>
                <a:latin typeface="Arial"/>
              </a:rPr>
              <a:t>Diagnóstico diferencial exige</a:t>
            </a:r>
            <a:endParaRPr b="0" lang="pt-BR" sz="3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2000"/>
              </a:lnSpc>
            </a:pPr>
            <a:r>
              <a:rPr b="1" lang="pt-BR" sz="4000" spc="-1" strike="noStrike">
                <a:solidFill>
                  <a:srgbClr val="2a78d6"/>
                </a:solidFill>
                <a:latin typeface="Arial"/>
              </a:rPr>
              <a:t>exame invasivo</a:t>
            </a:r>
            <a:endParaRPr b="0" lang="pt-BR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Right Arrow 92"/>
          <p:cNvSpPr/>
          <p:nvPr/>
        </p:nvSpPr>
        <p:spPr>
          <a:xfrm>
            <a:off x="7416000" y="12564000"/>
            <a:ext cx="790920" cy="466920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9aa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67" name="Rounded Rectangle 93"/>
          <p:cNvSpPr/>
          <p:nvPr/>
        </p:nvSpPr>
        <p:spPr>
          <a:xfrm>
            <a:off x="8352000" y="11844000"/>
            <a:ext cx="7414920" cy="1870920"/>
          </a:xfrm>
          <a:prstGeom prst="roundRect">
            <a:avLst>
              <a:gd name="adj" fmla="val 16000"/>
            </a:avLst>
          </a:prstGeom>
          <a:solidFill>
            <a:srgbClr val="e8f1fc"/>
          </a:solidFill>
          <a:ln w="20320">
            <a:solidFill>
              <a:srgbClr val="2a78d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8000" rIns="108000" tIns="36000" bIns="36000" anchor="ctr">
            <a:noAutofit/>
          </a:bodyPr>
          <a:p>
            <a:pPr algn="ctr">
              <a:lnSpc>
                <a:spcPct val="92000"/>
              </a:lnSpc>
            </a:pPr>
            <a:r>
              <a:rPr b="0" lang="pt-BR" sz="3100" spc="-1" strike="noStrike">
                <a:solidFill>
                  <a:srgbClr val="777777"/>
                </a:solidFill>
                <a:latin typeface="Arial"/>
              </a:rPr>
              <a:t>proposta</a:t>
            </a:r>
            <a:endParaRPr b="0" lang="pt-BR" sz="31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2000"/>
              </a:lnSpc>
            </a:pPr>
            <a:r>
              <a:rPr b="1" lang="pt-BR" sz="3400" spc="-1" strike="noStrike">
                <a:solidFill>
                  <a:srgbClr val="1e1e1e"/>
                </a:solidFill>
                <a:latin typeface="Arial"/>
              </a:rPr>
              <a:t>Triagem </a:t>
            </a:r>
            <a:r>
              <a:rPr b="1" lang="pt-BR" sz="4000" spc="-1" strike="noStrike">
                <a:solidFill>
                  <a:srgbClr val="2a78d6"/>
                </a:solidFill>
                <a:latin typeface="Arial"/>
              </a:rPr>
              <a:t>não invasiva</a:t>
            </a:r>
            <a:endParaRPr b="0" lang="pt-BR" sz="4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2000"/>
              </a:lnSpc>
            </a:pPr>
            <a:r>
              <a:rPr b="1" lang="pt-BR" sz="3400" spc="-1" strike="noStrike">
                <a:solidFill>
                  <a:srgbClr val="1e1e1e"/>
                </a:solidFill>
                <a:latin typeface="Arial"/>
              </a:rPr>
              <a:t>e de baixo custo, só pela voz</a:t>
            </a:r>
            <a:endParaRPr b="0" lang="pt-BR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Rounded Rectangle 94"/>
          <p:cNvSpPr/>
          <p:nvPr/>
        </p:nvSpPr>
        <p:spPr>
          <a:xfrm>
            <a:off x="16380000" y="11700000"/>
            <a:ext cx="5039640" cy="2194560"/>
          </a:xfrm>
          <a:prstGeom prst="roundRect">
            <a:avLst>
              <a:gd name="adj" fmla="val 16000"/>
            </a:avLst>
          </a:prstGeom>
          <a:solidFill>
            <a:srgbClr val="fdf0e9"/>
          </a:solidFill>
          <a:ln w="20320">
            <a:solidFill>
              <a:srgbClr val="eb683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8000" rIns="108000" tIns="36000" bIns="36000" anchor="ctr">
            <a:noAutofit/>
          </a:bodyPr>
          <a:p>
            <a:pPr algn="ctr">
              <a:lnSpc>
                <a:spcPct val="90000"/>
              </a:lnSpc>
            </a:pPr>
            <a:r>
              <a:rPr b="1" lang="pt-BR" sz="5100" spc="-1" strike="noStrike">
                <a:solidFill>
                  <a:srgbClr val="eb6834"/>
                </a:solidFill>
                <a:latin typeface="Arial"/>
              </a:rPr>
              <a:t>5</a:t>
            </a:r>
            <a:endParaRPr b="0" lang="pt-BR" sz="51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b="1" lang="pt-BR" sz="3200" spc="-1" strike="noStrike">
                <a:solidFill>
                  <a:srgbClr val="1e1e1e"/>
                </a:solidFill>
                <a:latin typeface="Arial"/>
              </a:rPr>
              <a:t>Condições vocais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b="1" lang="pt-BR" sz="3200" spc="-1" strike="noStrike">
                <a:solidFill>
                  <a:srgbClr val="1e1e1e"/>
                </a:solidFill>
                <a:latin typeface="Arial"/>
              </a:rPr>
              <a:t>distinguidas pela voz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Rounded Rectangle 95"/>
          <p:cNvSpPr/>
          <p:nvPr/>
        </p:nvSpPr>
        <p:spPr>
          <a:xfrm>
            <a:off x="21600000" y="11694600"/>
            <a:ext cx="4799160" cy="2194560"/>
          </a:xfrm>
          <a:prstGeom prst="roundRect">
            <a:avLst>
              <a:gd name="adj" fmla="val 16000"/>
            </a:avLst>
          </a:prstGeom>
          <a:solidFill>
            <a:srgbClr val="fdf0e9"/>
          </a:solidFill>
          <a:ln w="20320">
            <a:solidFill>
              <a:srgbClr val="eb683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8000" rIns="108000" tIns="36000" bIns="36000" anchor="ctr">
            <a:noAutofit/>
          </a:bodyPr>
          <a:p>
            <a:pPr algn="ctr">
              <a:lnSpc>
                <a:spcPct val="90000"/>
              </a:lnSpc>
            </a:pPr>
            <a:r>
              <a:rPr b="1" lang="pt-BR" sz="5100" spc="-1" strike="noStrike">
                <a:solidFill>
                  <a:srgbClr val="eb6834"/>
                </a:solidFill>
                <a:latin typeface="Arial"/>
              </a:rPr>
              <a:t>6</a:t>
            </a:r>
            <a:endParaRPr b="0" lang="pt-BR" sz="51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b="1" lang="pt-BR" sz="3200" spc="-1" strike="noStrike">
                <a:solidFill>
                  <a:srgbClr val="1e1e1e"/>
                </a:solidFill>
                <a:latin typeface="Arial"/>
              </a:rPr>
              <a:t>Redes por dobra: 2 por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b="1" lang="pt-BR" sz="3200" spc="-1" strike="noStrike">
                <a:solidFill>
                  <a:srgbClr val="1e1e1e"/>
                </a:solidFill>
                <a:latin typeface="Arial"/>
              </a:rPr>
              <a:t>vogal, fundidas ao final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Rounded Rectangle 96"/>
          <p:cNvSpPr/>
          <p:nvPr/>
        </p:nvSpPr>
        <p:spPr>
          <a:xfrm>
            <a:off x="26640000" y="11694600"/>
            <a:ext cx="4820040" cy="2194560"/>
          </a:xfrm>
          <a:prstGeom prst="roundRect">
            <a:avLst>
              <a:gd name="adj" fmla="val 16000"/>
            </a:avLst>
          </a:prstGeom>
          <a:solidFill>
            <a:srgbClr val="fdf0e9"/>
          </a:solidFill>
          <a:ln w="20320">
            <a:solidFill>
              <a:srgbClr val="eb683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8000" rIns="108000" tIns="36000" bIns="36000" anchor="ctr">
            <a:noAutofit/>
          </a:bodyPr>
          <a:p>
            <a:pPr algn="ctr">
              <a:lnSpc>
                <a:spcPct val="90000"/>
              </a:lnSpc>
            </a:pPr>
            <a:r>
              <a:rPr b="1" lang="pt-BR" sz="5100" spc="-1" strike="noStrike">
                <a:solidFill>
                  <a:srgbClr val="eb6834"/>
                </a:solidFill>
                <a:latin typeface="Arial"/>
              </a:rPr>
              <a:t>3</a:t>
            </a:r>
            <a:endParaRPr b="0" lang="pt-BR" sz="51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b="1" lang="pt-BR" sz="3200" spc="-1" strike="noStrike">
                <a:solidFill>
                  <a:srgbClr val="1e1e1e"/>
                </a:solidFill>
                <a:latin typeface="Arial"/>
              </a:rPr>
              <a:t>lacunas metodológicas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b="1" lang="pt-BR" sz="3200" spc="-1" strike="noStrike">
                <a:solidFill>
                  <a:srgbClr val="1e1e1e"/>
                </a:solidFill>
                <a:latin typeface="Arial"/>
              </a:rPr>
              <a:t>fechadas com A/B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Rounded Rectangle 97"/>
          <p:cNvSpPr/>
          <p:nvPr/>
        </p:nvSpPr>
        <p:spPr>
          <a:xfrm>
            <a:off x="936000" y="14058000"/>
            <a:ext cx="178920" cy="646920"/>
          </a:xfrm>
          <a:prstGeom prst="roundRect">
            <a:avLst>
              <a:gd name="adj" fmla="val 50000"/>
            </a:avLst>
          </a:prstGeom>
          <a:solidFill>
            <a:srgbClr val="17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72" name="TextBox 98"/>
          <p:cNvSpPr/>
          <p:nvPr/>
        </p:nvSpPr>
        <p:spPr>
          <a:xfrm>
            <a:off x="1314000" y="13993200"/>
            <a:ext cx="30148920" cy="81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92000"/>
              </a:lnSpc>
            </a:pPr>
            <a:r>
              <a:rPr b="1" lang="pt-BR" sz="5800" spc="-1" strike="noStrike">
                <a:solidFill>
                  <a:srgbClr val="179669"/>
                </a:solidFill>
                <a:latin typeface="Arial"/>
              </a:rPr>
              <a:t>MATERIAL E MÉTODOS</a:t>
            </a:r>
            <a:endParaRPr b="0" lang="pt-BR" sz="5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99"/>
          <p:cNvSpPr/>
          <p:nvPr/>
        </p:nvSpPr>
        <p:spPr>
          <a:xfrm>
            <a:off x="1314000" y="14742000"/>
            <a:ext cx="30148920" cy="46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2000"/>
              </a:lnSpc>
            </a:pPr>
            <a:r>
              <a:rPr b="0" lang="pt-BR" sz="3300" spc="-1" strike="noStrike">
                <a:solidFill>
                  <a:srgbClr val="777777"/>
                </a:solidFill>
                <a:latin typeface="Arial"/>
              </a:rPr>
              <a:t>validação cruzada estratificada de 5 dobras · seed fixa (42) · z-score e balanceamento ajustados dentro de cada dobra</a:t>
            </a:r>
            <a:endParaRPr b="0" lang="pt-B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Rounded Rectangle 100"/>
          <p:cNvSpPr/>
          <p:nvPr/>
        </p:nvSpPr>
        <p:spPr>
          <a:xfrm>
            <a:off x="936000" y="15119604"/>
            <a:ext cx="4823640" cy="7028992"/>
          </a:xfrm>
          <a:prstGeom prst="roundRect">
            <a:avLst>
              <a:gd name="adj" fmla="val 16000"/>
            </a:avLst>
          </a:prstGeom>
          <a:solidFill>
            <a:srgbClr val="e8f1fc"/>
          </a:solidFill>
          <a:ln w="25400">
            <a:solidFill>
              <a:srgbClr val="2a78d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75" name="TextBox 101"/>
          <p:cNvSpPr/>
          <p:nvPr/>
        </p:nvSpPr>
        <p:spPr>
          <a:xfrm>
            <a:off x="936000" y="15509520"/>
            <a:ext cx="482292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2000"/>
              </a:lnSpc>
            </a:pPr>
            <a:r>
              <a:rPr b="1" lang="pt-BR" sz="4200" spc="-1" strike="noStrike">
                <a:solidFill>
                  <a:srgbClr val="2a78d6"/>
                </a:solidFill>
                <a:latin typeface="Arial"/>
              </a:rPr>
              <a:t>SINAL DE VOZ</a:t>
            </a:r>
            <a:endParaRPr b="0" lang="pt-B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Box 102"/>
          <p:cNvSpPr/>
          <p:nvPr/>
        </p:nvSpPr>
        <p:spPr>
          <a:xfrm>
            <a:off x="936000" y="16075800"/>
            <a:ext cx="482292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2000"/>
              </a:lnSpc>
            </a:pPr>
            <a:r>
              <a:rPr b="0" lang="pt-BR" sz="2800" spc="-1" strike="noStrike">
                <a:solidFill>
                  <a:srgbClr val="4e4e4e"/>
                </a:solidFill>
                <a:latin typeface="Arial"/>
              </a:rPr>
              <a:t>Saarbrücken Voice Database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Rounded Rectangle 103"/>
          <p:cNvSpPr/>
          <p:nvPr/>
        </p:nvSpPr>
        <p:spPr>
          <a:xfrm>
            <a:off x="1440000" y="16560000"/>
            <a:ext cx="3814920" cy="86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a78d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8000" rIns="108000" tIns="36000" bIns="36000" anchor="ctr">
            <a:noAutofit/>
          </a:bodyPr>
          <a:p>
            <a:pPr algn="ctr">
              <a:lnSpc>
                <a:spcPct val="92000"/>
              </a:lnSpc>
            </a:pPr>
            <a:r>
              <a:rPr b="1" lang="pt-BR" sz="4800" spc="-1" strike="noStrike">
                <a:solidFill>
                  <a:srgbClr val="2a78d6"/>
                </a:solidFill>
                <a:latin typeface="Arial"/>
              </a:rPr>
              <a:t>∿∿∿∿</a:t>
            </a:r>
            <a:endParaRPr b="0" lang="pt-BR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104"/>
          <p:cNvSpPr/>
          <p:nvPr/>
        </p:nvSpPr>
        <p:spPr>
          <a:xfrm>
            <a:off x="936000" y="17556120"/>
            <a:ext cx="4822920" cy="12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2000"/>
              </a:lnSpc>
            </a:pPr>
            <a:r>
              <a:rPr b="1" lang="pt-BR" sz="5500" spc="-1" strike="noStrike">
                <a:solidFill>
                  <a:srgbClr val="1e1e1e"/>
                </a:solidFill>
                <a:latin typeface="Arial"/>
              </a:rPr>
              <a:t>1.098</a:t>
            </a:r>
            <a:endParaRPr b="0" lang="pt-BR" sz="55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2000"/>
              </a:lnSpc>
            </a:pPr>
            <a:r>
              <a:rPr b="0" lang="pt-BR" sz="3400" spc="-1" strike="noStrike">
                <a:solidFill>
                  <a:srgbClr val="4e4e4e"/>
                </a:solidFill>
                <a:latin typeface="Arial"/>
              </a:rPr>
              <a:t>pacientes</a:t>
            </a:r>
            <a:endParaRPr b="0" lang="pt-BR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105"/>
          <p:cNvSpPr/>
          <p:nvPr/>
        </p:nvSpPr>
        <p:spPr>
          <a:xfrm>
            <a:off x="936000" y="18812880"/>
            <a:ext cx="482292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2000"/>
              </a:lnSpc>
            </a:pPr>
            <a:r>
              <a:rPr b="0" lang="pt-BR" sz="3200" spc="-1" strike="noStrike">
                <a:solidFill>
                  <a:srgbClr val="4e4e4e"/>
                </a:solidFill>
                <a:latin typeface="Arial"/>
              </a:rPr>
              <a:t>vogais sustentadas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2000"/>
              </a:lnSpc>
            </a:pPr>
            <a:r>
              <a:rPr b="1" lang="pt-BR" sz="4200" spc="-1" strike="noStrike">
                <a:solidFill>
                  <a:srgbClr val="2a78d6"/>
                </a:solidFill>
                <a:latin typeface="Arial"/>
              </a:rPr>
              <a:t>/a/    /i/    /u/</a:t>
            </a:r>
            <a:endParaRPr b="0" lang="pt-B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Rounded Rectangle 106"/>
          <p:cNvSpPr/>
          <p:nvPr/>
        </p:nvSpPr>
        <p:spPr>
          <a:xfrm>
            <a:off x="1368000" y="19944000"/>
            <a:ext cx="3958920" cy="1955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c9def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81" name="TextBox 107"/>
          <p:cNvSpPr/>
          <p:nvPr/>
        </p:nvSpPr>
        <p:spPr>
          <a:xfrm>
            <a:off x="1368000" y="19640880"/>
            <a:ext cx="3958920" cy="21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0000"/>
              </a:lnSpc>
            </a:pPr>
            <a:r>
              <a:rPr b="1" lang="pt-BR" sz="3300" spc="-1" strike="noStrike">
                <a:solidFill>
                  <a:srgbClr val="1e1e1e"/>
                </a:solidFill>
                <a:latin typeface="Arial"/>
              </a:rPr>
              <a:t>5 classes clínicas</a:t>
            </a:r>
            <a:endParaRPr b="0" lang="pt-BR" sz="33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b="0" lang="pt-BR" sz="3200" spc="-1" strike="noStrike">
                <a:solidFill>
                  <a:srgbClr val="4e4e4e"/>
                </a:solidFill>
                <a:latin typeface="Arial"/>
              </a:rPr>
              <a:t>687 · 140 · 91 · 112 · 68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b="0" lang="pt-BR" sz="3000" spc="-1" strike="noStrike">
                <a:solidFill>
                  <a:srgbClr val="777777"/>
                </a:solidFill>
                <a:latin typeface="Arial"/>
              </a:rPr>
              <a:t>fortemente desbalanceada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Right Arrow 108"/>
          <p:cNvSpPr/>
          <p:nvPr/>
        </p:nvSpPr>
        <p:spPr>
          <a:xfrm>
            <a:off x="5940000" y="18252000"/>
            <a:ext cx="430920" cy="574920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9aa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83" name="Rounded Rectangle 109"/>
          <p:cNvSpPr/>
          <p:nvPr/>
        </p:nvSpPr>
        <p:spPr>
          <a:xfrm>
            <a:off x="6480000" y="15119604"/>
            <a:ext cx="5686920" cy="7028992"/>
          </a:xfrm>
          <a:prstGeom prst="roundRect">
            <a:avLst>
              <a:gd name="adj" fmla="val 16000"/>
            </a:avLst>
          </a:prstGeom>
          <a:solidFill>
            <a:srgbClr val="fdf0e9"/>
          </a:solidFill>
          <a:ln w="25400">
            <a:solidFill>
              <a:srgbClr val="eb683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84" name="TextBox 110"/>
          <p:cNvSpPr/>
          <p:nvPr/>
        </p:nvSpPr>
        <p:spPr>
          <a:xfrm>
            <a:off x="6552000" y="15204240"/>
            <a:ext cx="5614920" cy="10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2000"/>
              </a:lnSpc>
            </a:pPr>
            <a:r>
              <a:rPr b="1" lang="pt-BR" sz="4200" spc="-1" strike="noStrike">
                <a:solidFill>
                  <a:srgbClr val="eb6834"/>
                </a:solidFill>
                <a:latin typeface="Arial"/>
              </a:rPr>
              <a:t>CARACTERÍSTICAS</a:t>
            </a:r>
            <a:endParaRPr b="0" lang="pt-BR" sz="4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2000"/>
              </a:lnSpc>
            </a:pPr>
            <a:r>
              <a:rPr b="0" lang="pt-BR" sz="3200" spc="-1" strike="noStrike">
                <a:solidFill>
                  <a:srgbClr val="4e4e4e"/>
                </a:solidFill>
                <a:latin typeface="Arial"/>
              </a:rPr>
              <a:t>83 por vogal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Rounded Rectangle 111"/>
          <p:cNvSpPr/>
          <p:nvPr/>
        </p:nvSpPr>
        <p:spPr>
          <a:xfrm>
            <a:off x="6840000" y="16241400"/>
            <a:ext cx="511200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f3d3c3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800" bIns="28800" anchor="ctr">
            <a:noAutofit/>
          </a:bodyPr>
          <a:p>
            <a:pPr algn="ctr">
              <a:lnSpc>
                <a:spcPct val="88000"/>
              </a:lnSpc>
            </a:pPr>
            <a:r>
              <a:rPr b="1" lang="pt-BR" sz="3500" spc="-1" strike="noStrike">
                <a:solidFill>
                  <a:srgbClr val="1e1e1e"/>
                </a:solidFill>
                <a:latin typeface="Arial"/>
              </a:rPr>
              <a:t>Temporais   </a:t>
            </a:r>
            <a:r>
              <a:rPr b="1" lang="pt-BR" sz="4200" spc="-1" strike="noStrike">
                <a:solidFill>
                  <a:srgbClr val="eb6834"/>
                </a:solidFill>
                <a:latin typeface="Arial"/>
              </a:rPr>
              <a:t>10</a:t>
            </a:r>
            <a:endParaRPr b="0" lang="pt-BR" sz="4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88000"/>
              </a:lnSpc>
            </a:pPr>
            <a:r>
              <a:rPr b="0" lang="pt-BR" sz="2950" spc="-1" strike="noStrike">
                <a:solidFill>
                  <a:srgbClr val="4e4e4e"/>
                </a:solidFill>
                <a:latin typeface="Arial"/>
              </a:rPr>
              <a:t>jitter · shimmer · HNR · ZCR</a:t>
            </a:r>
            <a:endParaRPr b="0" lang="pt-BR" sz="29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88000"/>
              </a:lnSpc>
            </a:pPr>
            <a:r>
              <a:rPr b="1" lang="pt-BR" sz="2900" spc="-1" strike="noStrike">
                <a:solidFill>
                  <a:srgbClr val="777777"/>
                </a:solidFill>
                <a:latin typeface="Arial"/>
              </a:rPr>
              <a:t>irregularidade da fonação</a:t>
            </a:r>
            <a:endParaRPr b="0" lang="pt-BR" sz="2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112"/>
          <p:cNvSpPr/>
          <p:nvPr/>
        </p:nvSpPr>
        <p:spPr>
          <a:xfrm>
            <a:off x="6840000" y="17750332"/>
            <a:ext cx="511092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f3d3c3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800" bIns="28800" anchor="ctr">
            <a:noAutofit/>
          </a:bodyPr>
          <a:p>
            <a:pPr algn="ctr">
              <a:lnSpc>
                <a:spcPct val="88000"/>
              </a:lnSpc>
            </a:pPr>
            <a:r>
              <a:rPr b="1" lang="pt-BR" sz="3500" spc="-1" strike="noStrike">
                <a:solidFill>
                  <a:srgbClr val="1e1e1e"/>
                </a:solidFill>
                <a:latin typeface="Arial"/>
              </a:rPr>
              <a:t>Espectrais   </a:t>
            </a:r>
            <a:r>
              <a:rPr b="1" lang="pt-BR" sz="4200" spc="-1" strike="noStrike">
                <a:solidFill>
                  <a:srgbClr val="eb6834"/>
                </a:solidFill>
                <a:latin typeface="Arial"/>
              </a:rPr>
              <a:t>55</a:t>
            </a:r>
            <a:endParaRPr b="0" lang="pt-BR" sz="4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88000"/>
              </a:lnSpc>
            </a:pPr>
            <a:r>
              <a:rPr b="0" lang="pt-BR" sz="2950" spc="-1" strike="noStrike">
                <a:solidFill>
                  <a:srgbClr val="4e4e4e"/>
                </a:solidFill>
                <a:latin typeface="Arial"/>
              </a:rPr>
              <a:t>F0 · formantes · MFCC+Δ+ΔΔ · CPP · pulso glotal</a:t>
            </a:r>
            <a:endParaRPr b="0" lang="pt-BR" sz="29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88000"/>
              </a:lnSpc>
            </a:pPr>
            <a:r>
              <a:rPr b="1" lang="pt-BR" sz="2900" spc="-1" strike="noStrike">
                <a:solidFill>
                  <a:srgbClr val="777777"/>
                </a:solidFill>
                <a:latin typeface="Arial"/>
              </a:rPr>
              <a:t>timbre e qualidade vocal</a:t>
            </a:r>
            <a:endParaRPr b="0" lang="pt-BR" sz="2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Rounded Rectangle 113"/>
          <p:cNvSpPr/>
          <p:nvPr/>
        </p:nvSpPr>
        <p:spPr>
          <a:xfrm>
            <a:off x="6840000" y="19624852"/>
            <a:ext cx="5110920" cy="14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f3d3c3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800" bIns="28800" anchor="ctr">
            <a:noAutofit/>
          </a:bodyPr>
          <a:p>
            <a:pPr algn="ctr">
              <a:lnSpc>
                <a:spcPct val="88000"/>
              </a:lnSpc>
            </a:pPr>
            <a:r>
              <a:rPr b="1" lang="pt-BR" sz="3500" spc="-1" strike="noStrike">
                <a:solidFill>
                  <a:srgbClr val="1e1e1e"/>
                </a:solidFill>
                <a:latin typeface="Arial"/>
              </a:rPr>
              <a:t>Wavelet   </a:t>
            </a:r>
            <a:r>
              <a:rPr b="1" lang="pt-BR" sz="4200" spc="-1" strike="noStrike">
                <a:solidFill>
                  <a:srgbClr val="eb6834"/>
                </a:solidFill>
                <a:latin typeface="Arial"/>
              </a:rPr>
              <a:t>18</a:t>
            </a:r>
            <a:endParaRPr b="0" lang="pt-BR" sz="42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88000"/>
              </a:lnSpc>
            </a:pPr>
            <a:r>
              <a:rPr b="0" lang="pt-BR" sz="2950" spc="-1" strike="noStrike">
                <a:solidFill>
                  <a:srgbClr val="4e4e4e"/>
                </a:solidFill>
                <a:latin typeface="Arial"/>
              </a:rPr>
              <a:t>Daubechies-4 · 6 níveis</a:t>
            </a:r>
            <a:endParaRPr b="0" lang="pt-BR" sz="295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88000"/>
              </a:lnSpc>
            </a:pPr>
            <a:r>
              <a:rPr b="0" lang="pt-BR" sz="2900" spc="-1" strike="noStrike">
                <a:solidFill>
                  <a:srgbClr val="777777"/>
                </a:solidFill>
                <a:latin typeface="Arial"/>
              </a:rPr>
              <a:t>padrões multiescala</a:t>
            </a:r>
            <a:endParaRPr b="0" lang="pt-BR" sz="2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Box 114"/>
          <p:cNvSpPr/>
          <p:nvPr/>
        </p:nvSpPr>
        <p:spPr>
          <a:xfrm>
            <a:off x="6552000" y="21027542"/>
            <a:ext cx="5614920" cy="10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5000"/>
              </a:lnSpc>
            </a:pPr>
            <a:r>
              <a:rPr b="1" lang="pt-BR" sz="3100" spc="-1" strike="noStrike">
                <a:solidFill>
                  <a:srgbClr val="777777"/>
                </a:solidFill>
                <a:latin typeface="Arial"/>
              </a:rPr>
              <a:t>+ idade e sexo do paciente</a:t>
            </a:r>
            <a:endParaRPr b="0" lang="pt-BR" sz="31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5000"/>
              </a:lnSpc>
            </a:pPr>
            <a:r>
              <a:rPr b="1" lang="pt-BR" sz="4300" spc="-1" strike="noStrike">
                <a:solidFill>
                  <a:srgbClr val="1e1e1e"/>
                </a:solidFill>
                <a:latin typeface="Arial"/>
              </a:rPr>
              <a:t>251 variáveis</a:t>
            </a:r>
            <a:endParaRPr b="0" lang="pt-BR" sz="4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Right Arrow 115"/>
          <p:cNvSpPr/>
          <p:nvPr/>
        </p:nvSpPr>
        <p:spPr>
          <a:xfrm>
            <a:off x="12348000" y="18252000"/>
            <a:ext cx="430920" cy="574920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9aa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90" name="Rounded Rectangle 116"/>
          <p:cNvSpPr/>
          <p:nvPr/>
        </p:nvSpPr>
        <p:spPr>
          <a:xfrm>
            <a:off x="12960000" y="15119604"/>
            <a:ext cx="8999640" cy="7028992"/>
          </a:xfrm>
          <a:prstGeom prst="roundRect">
            <a:avLst>
              <a:gd name="adj" fmla="val 16000"/>
            </a:avLst>
          </a:prstGeom>
          <a:solidFill>
            <a:srgbClr val="e9f9f2"/>
          </a:solidFill>
          <a:ln w="25400">
            <a:solidFill>
              <a:srgbClr val="1baf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91" name="TextBox 117"/>
          <p:cNvSpPr/>
          <p:nvPr/>
        </p:nvSpPr>
        <p:spPr>
          <a:xfrm>
            <a:off x="12960000" y="15204240"/>
            <a:ext cx="8854920" cy="95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2000"/>
              </a:lnSpc>
            </a:pPr>
            <a:r>
              <a:rPr b="1" lang="pt-BR" sz="3900" spc="-1" strike="noStrike">
                <a:solidFill>
                  <a:srgbClr val="179669"/>
                </a:solidFill>
                <a:latin typeface="Arial"/>
              </a:rPr>
              <a:t>DUAS REDES POR VOGAL</a:t>
            </a:r>
            <a:endParaRPr b="0" lang="pt-BR" sz="39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2000"/>
              </a:lnSpc>
            </a:pPr>
            <a:r>
              <a:rPr b="0" lang="pt-BR" sz="2900" spc="-1" strike="noStrike">
                <a:solidFill>
                  <a:srgbClr val="4e4e4e"/>
                </a:solidFill>
                <a:latin typeface="Arial"/>
              </a:rPr>
              <a:t>×3 vogais · pesos independentes</a:t>
            </a:r>
            <a:endParaRPr b="0" lang="pt-BR" sz="2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Rounded Rectangle 118"/>
          <p:cNvSpPr/>
          <p:nvPr/>
        </p:nvSpPr>
        <p:spPr>
          <a:xfrm>
            <a:off x="13284000" y="16340328"/>
            <a:ext cx="3958920" cy="428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c6e8d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93" name="TextBox 119"/>
          <p:cNvSpPr/>
          <p:nvPr/>
        </p:nvSpPr>
        <p:spPr>
          <a:xfrm>
            <a:off x="13284000" y="16497604"/>
            <a:ext cx="39589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0000"/>
              </a:lnSpc>
            </a:pPr>
            <a:r>
              <a:rPr b="1" lang="pt-BR" sz="2700" spc="-1" strike="noStrike">
                <a:solidFill>
                  <a:srgbClr val="179669"/>
                </a:solidFill>
                <a:latin typeface="Arial"/>
              </a:rPr>
              <a:t>MESTRA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b="1" lang="pt-BR" sz="2100" spc="-1" strike="noStrike">
                <a:solidFill>
                  <a:srgbClr val="4e4e4e"/>
                </a:solidFill>
                <a:latin typeface="Arial"/>
              </a:rPr>
              <a:t>patológico × saudável</a:t>
            </a:r>
            <a:endParaRPr b="0" lang="pt-B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Rounded Rectangle 120"/>
          <p:cNvSpPr/>
          <p:nvPr/>
        </p:nvSpPr>
        <p:spPr>
          <a:xfrm>
            <a:off x="13644000" y="17312335"/>
            <a:ext cx="3238920" cy="53892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5240">
            <a:solidFill>
              <a:srgbClr val="c6e8d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rIns="36000" tIns="7200" bIns="7200" anchor="ctr">
            <a:noAutofit/>
          </a:bodyPr>
          <a:p>
            <a:pPr algn="ctr">
              <a:lnSpc>
                <a:spcPct val="92000"/>
              </a:lnSpc>
            </a:pPr>
            <a:r>
              <a:rPr b="1" lang="pt-BR" sz="2100" spc="-1" strike="noStrike">
                <a:solidFill>
                  <a:srgbClr val="4e4e4e"/>
                </a:solidFill>
                <a:latin typeface="Arial"/>
              </a:rPr>
              <a:t>85 características</a:t>
            </a:r>
            <a:endParaRPr b="0" lang="pt-B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Box 121"/>
          <p:cNvSpPr/>
          <p:nvPr/>
        </p:nvSpPr>
        <p:spPr>
          <a:xfrm>
            <a:off x="13644000" y="17764963"/>
            <a:ext cx="32389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2000"/>
              </a:lnSpc>
            </a:pPr>
            <a:r>
              <a:rPr b="1" lang="pt-BR" sz="2000" spc="-1" strike="noStrike">
                <a:solidFill>
                  <a:srgbClr val="777777"/>
                </a:solidFill>
                <a:latin typeface="Arial"/>
              </a:rPr>
              <a:t>↓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Rounded Rectangle 122"/>
          <p:cNvSpPr/>
          <p:nvPr/>
        </p:nvSpPr>
        <p:spPr>
          <a:xfrm>
            <a:off x="13644000" y="18057571"/>
            <a:ext cx="3238920" cy="538920"/>
          </a:xfrm>
          <a:prstGeom prst="roundRect">
            <a:avLst>
              <a:gd name="adj" fmla="val 24000"/>
            </a:avLst>
          </a:prstGeom>
          <a:solidFill>
            <a:srgbClr val="1baf7a"/>
          </a:solidFill>
          <a:ln w="15240">
            <a:solidFill>
              <a:srgbClr val="1baf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rIns="36000" tIns="7200" bIns="7200" anchor="ctr">
            <a:noAutofit/>
          </a:bodyPr>
          <a:p>
            <a:pPr algn="ctr">
              <a:lnSpc>
                <a:spcPct val="92000"/>
              </a:lnSpc>
            </a:pPr>
            <a:r>
              <a:rPr b="1" lang="pt-BR" sz="2100" spc="-1" strike="noStrike">
                <a:solidFill>
                  <a:srgbClr val="ffffff"/>
                </a:solidFill>
                <a:latin typeface="Arial"/>
              </a:rPr>
              <a:t>Dense 128 + LeakyReLU</a:t>
            </a:r>
            <a:endParaRPr b="0" lang="pt-BR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TextBox 123"/>
          <p:cNvSpPr/>
          <p:nvPr/>
        </p:nvSpPr>
        <p:spPr>
          <a:xfrm>
            <a:off x="13644000" y="18510199"/>
            <a:ext cx="32389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2000"/>
              </a:lnSpc>
            </a:pPr>
            <a:r>
              <a:rPr b="1" lang="pt-BR" sz="2000" spc="-1" strike="noStrike">
                <a:solidFill>
                  <a:srgbClr val="777777"/>
                </a:solidFill>
                <a:latin typeface="Arial"/>
              </a:rPr>
              <a:t>↓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Rounded Rectangle 124"/>
          <p:cNvSpPr/>
          <p:nvPr/>
        </p:nvSpPr>
        <p:spPr>
          <a:xfrm>
            <a:off x="13644000" y="18802807"/>
            <a:ext cx="3238920" cy="538920"/>
          </a:xfrm>
          <a:prstGeom prst="roundRect">
            <a:avLst>
              <a:gd name="adj" fmla="val 24000"/>
            </a:avLst>
          </a:prstGeom>
          <a:solidFill>
            <a:srgbClr val="1baf7a"/>
          </a:solidFill>
          <a:ln w="15240">
            <a:solidFill>
              <a:srgbClr val="1baf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rIns="36000" tIns="7200" bIns="7200" anchor="ctr">
            <a:noAutofit/>
          </a:bodyPr>
          <a:p>
            <a:pPr algn="ctr">
              <a:lnSpc>
                <a:spcPct val="92000"/>
              </a:lnSpc>
            </a:pPr>
            <a:r>
              <a:rPr b="1" lang="pt-BR" sz="2100" spc="-1" strike="noStrike">
                <a:solidFill>
                  <a:srgbClr val="ffffff"/>
                </a:solidFill>
                <a:latin typeface="Arial"/>
              </a:rPr>
              <a:t>Dense 64 + LeakyReLU</a:t>
            </a:r>
            <a:endParaRPr b="0" lang="pt-BR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Box 125"/>
          <p:cNvSpPr/>
          <p:nvPr/>
        </p:nvSpPr>
        <p:spPr>
          <a:xfrm>
            <a:off x="13644000" y="19255435"/>
            <a:ext cx="32389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2000"/>
              </a:lnSpc>
            </a:pPr>
            <a:r>
              <a:rPr b="1" lang="pt-BR" sz="2000" spc="-1" strike="noStrike">
                <a:solidFill>
                  <a:srgbClr val="777777"/>
                </a:solidFill>
                <a:latin typeface="Arial"/>
              </a:rPr>
              <a:t>↓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Rounded Rectangle 126"/>
          <p:cNvSpPr/>
          <p:nvPr/>
        </p:nvSpPr>
        <p:spPr>
          <a:xfrm>
            <a:off x="13644000" y="19548043"/>
            <a:ext cx="3238920" cy="538920"/>
          </a:xfrm>
          <a:prstGeom prst="roundRect">
            <a:avLst>
              <a:gd name="adj" fmla="val 24000"/>
            </a:avLst>
          </a:prstGeom>
          <a:solidFill>
            <a:srgbClr val="e8f1fc"/>
          </a:solidFill>
          <a:ln w="15240">
            <a:solidFill>
              <a:srgbClr val="2a78d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rIns="36000" tIns="7200" bIns="7200" anchor="ctr">
            <a:noAutofit/>
          </a:bodyPr>
          <a:p>
            <a:pPr algn="ctr">
              <a:lnSpc>
                <a:spcPct val="92000"/>
              </a:lnSpc>
            </a:pPr>
            <a:r>
              <a:rPr b="1" lang="pt-BR" sz="2100" spc="-1" strike="noStrike">
                <a:solidFill>
                  <a:srgbClr val="2a78d6"/>
                </a:solidFill>
                <a:latin typeface="Arial"/>
              </a:rPr>
              <a:t>saudável | patológico</a:t>
            </a:r>
            <a:endParaRPr b="0" lang="pt-B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Box 127"/>
          <p:cNvSpPr/>
          <p:nvPr/>
        </p:nvSpPr>
        <p:spPr>
          <a:xfrm>
            <a:off x="13284000" y="20228356"/>
            <a:ext cx="3958920" cy="2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2000"/>
              </a:lnSpc>
            </a:pPr>
            <a:r>
              <a:rPr b="0" lang="pt-BR" sz="2050" spc="-1" strike="noStrike">
                <a:solidFill>
                  <a:srgbClr val="777777"/>
                </a:solidFill>
                <a:latin typeface="Arial"/>
              </a:rPr>
              <a:t>dropout 0,5 / 0,4</a:t>
            </a:r>
            <a:endParaRPr b="0" lang="pt-BR" sz="2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Rounded Rectangle 128"/>
          <p:cNvSpPr/>
          <p:nvPr/>
        </p:nvSpPr>
        <p:spPr>
          <a:xfrm>
            <a:off x="17532000" y="16340328"/>
            <a:ext cx="3958920" cy="428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c6e8d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103" name="TextBox 129"/>
          <p:cNvSpPr/>
          <p:nvPr/>
        </p:nvSpPr>
        <p:spPr>
          <a:xfrm>
            <a:off x="17532000" y="16497604"/>
            <a:ext cx="39589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0000"/>
              </a:lnSpc>
            </a:pPr>
            <a:r>
              <a:rPr b="1" lang="pt-BR" sz="2700" spc="-1" strike="noStrike">
                <a:solidFill>
                  <a:srgbClr val="179669"/>
                </a:solidFill>
                <a:latin typeface="Arial"/>
              </a:rPr>
              <a:t>ESPECIALISTA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b="1" lang="pt-BR" sz="2100" spc="-1" strike="noStrike">
                <a:solidFill>
                  <a:srgbClr val="4e4e4e"/>
                </a:solidFill>
                <a:latin typeface="Arial"/>
              </a:rPr>
              <a:t>qual patologia?</a:t>
            </a:r>
            <a:endParaRPr b="0" lang="pt-B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Rounded Rectangle 130"/>
          <p:cNvSpPr/>
          <p:nvPr/>
        </p:nvSpPr>
        <p:spPr>
          <a:xfrm>
            <a:off x="17892000" y="17312335"/>
            <a:ext cx="3238920" cy="53892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5240">
            <a:solidFill>
              <a:srgbClr val="c6e8d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rIns="36000" tIns="7200" bIns="7200" anchor="ctr">
            <a:noAutofit/>
          </a:bodyPr>
          <a:p>
            <a:pPr algn="ctr">
              <a:lnSpc>
                <a:spcPct val="92000"/>
              </a:lnSpc>
            </a:pPr>
            <a:r>
              <a:rPr b="1" lang="pt-BR" sz="2100" spc="-1" strike="noStrike">
                <a:solidFill>
                  <a:srgbClr val="4e4e4e"/>
                </a:solidFill>
                <a:latin typeface="Arial"/>
              </a:rPr>
              <a:t>85 características</a:t>
            </a:r>
            <a:endParaRPr b="0" lang="pt-B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Box 131"/>
          <p:cNvSpPr/>
          <p:nvPr/>
        </p:nvSpPr>
        <p:spPr>
          <a:xfrm>
            <a:off x="17892000" y="17764963"/>
            <a:ext cx="32389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2000"/>
              </a:lnSpc>
            </a:pPr>
            <a:r>
              <a:rPr b="1" lang="pt-BR" sz="2000" spc="-1" strike="noStrike">
                <a:solidFill>
                  <a:srgbClr val="777777"/>
                </a:solidFill>
                <a:latin typeface="Arial"/>
              </a:rPr>
              <a:t>↓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Rounded Rectangle 132"/>
          <p:cNvSpPr/>
          <p:nvPr/>
        </p:nvSpPr>
        <p:spPr>
          <a:xfrm>
            <a:off x="17892000" y="18057571"/>
            <a:ext cx="3238920" cy="538920"/>
          </a:xfrm>
          <a:prstGeom prst="roundRect">
            <a:avLst>
              <a:gd name="adj" fmla="val 24000"/>
            </a:avLst>
          </a:prstGeom>
          <a:solidFill>
            <a:srgbClr val="1baf7a"/>
          </a:solidFill>
          <a:ln w="15240">
            <a:solidFill>
              <a:srgbClr val="1baf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rIns="36000" tIns="7200" bIns="7200" anchor="ctr">
            <a:noAutofit/>
          </a:bodyPr>
          <a:p>
            <a:pPr algn="ctr">
              <a:lnSpc>
                <a:spcPct val="92000"/>
              </a:lnSpc>
            </a:pPr>
            <a:r>
              <a:rPr b="1" lang="pt-BR" sz="2100" spc="-1" strike="noStrike">
                <a:solidFill>
                  <a:srgbClr val="ffffff"/>
                </a:solidFill>
                <a:latin typeface="Arial"/>
              </a:rPr>
              <a:t>Dense 128 + LeakyReLU</a:t>
            </a:r>
            <a:endParaRPr b="0" lang="pt-BR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Box 133"/>
          <p:cNvSpPr/>
          <p:nvPr/>
        </p:nvSpPr>
        <p:spPr>
          <a:xfrm>
            <a:off x="17892000" y="18510199"/>
            <a:ext cx="32389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2000"/>
              </a:lnSpc>
            </a:pPr>
            <a:r>
              <a:rPr b="1" lang="pt-BR" sz="2000" spc="-1" strike="noStrike">
                <a:solidFill>
                  <a:srgbClr val="777777"/>
                </a:solidFill>
                <a:latin typeface="Arial"/>
              </a:rPr>
              <a:t>↓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Rounded Rectangle 134"/>
          <p:cNvSpPr/>
          <p:nvPr/>
        </p:nvSpPr>
        <p:spPr>
          <a:xfrm>
            <a:off x="17892000" y="18802807"/>
            <a:ext cx="3238920" cy="538920"/>
          </a:xfrm>
          <a:prstGeom prst="roundRect">
            <a:avLst>
              <a:gd name="adj" fmla="val 24000"/>
            </a:avLst>
          </a:prstGeom>
          <a:solidFill>
            <a:srgbClr val="1baf7a"/>
          </a:solidFill>
          <a:ln w="15240">
            <a:solidFill>
              <a:srgbClr val="1baf7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rIns="36000" tIns="7200" bIns="7200" anchor="ctr">
            <a:noAutofit/>
          </a:bodyPr>
          <a:p>
            <a:pPr algn="ctr">
              <a:lnSpc>
                <a:spcPct val="92000"/>
              </a:lnSpc>
            </a:pPr>
            <a:r>
              <a:rPr b="1" lang="pt-BR" sz="2100" spc="-1" strike="noStrike">
                <a:solidFill>
                  <a:srgbClr val="ffffff"/>
                </a:solidFill>
                <a:latin typeface="Arial"/>
              </a:rPr>
              <a:t>Dense 64 + LeakyReLU</a:t>
            </a:r>
            <a:endParaRPr b="0" lang="pt-BR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Box 135"/>
          <p:cNvSpPr/>
          <p:nvPr/>
        </p:nvSpPr>
        <p:spPr>
          <a:xfrm>
            <a:off x="17892000" y="19255435"/>
            <a:ext cx="3238920" cy="27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2000"/>
              </a:lnSpc>
            </a:pPr>
            <a:r>
              <a:rPr b="1" lang="pt-BR" sz="2000" spc="-1" strike="noStrike">
                <a:solidFill>
                  <a:srgbClr val="777777"/>
                </a:solidFill>
                <a:latin typeface="Arial"/>
              </a:rPr>
              <a:t>↓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Rounded Rectangle 136"/>
          <p:cNvSpPr/>
          <p:nvPr/>
        </p:nvSpPr>
        <p:spPr>
          <a:xfrm>
            <a:off x="17892000" y="19548043"/>
            <a:ext cx="3238920" cy="538920"/>
          </a:xfrm>
          <a:prstGeom prst="roundRect">
            <a:avLst>
              <a:gd name="adj" fmla="val 24000"/>
            </a:avLst>
          </a:prstGeom>
          <a:solidFill>
            <a:srgbClr val="fdeef4"/>
          </a:solidFill>
          <a:ln w="15240">
            <a:solidFill>
              <a:srgbClr val="b8446e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rIns="36000" tIns="7200" bIns="7200" anchor="ctr">
            <a:noAutofit/>
          </a:bodyPr>
          <a:p>
            <a:pPr algn="ctr">
              <a:lnSpc>
                <a:spcPct val="92000"/>
              </a:lnSpc>
            </a:pPr>
            <a:r>
              <a:rPr b="1" lang="pt-BR" sz="2100" spc="-1" strike="noStrike">
                <a:solidFill>
                  <a:srgbClr val="b8446e"/>
                </a:solidFill>
                <a:latin typeface="Arial"/>
              </a:rPr>
              <a:t>4 patologias</a:t>
            </a:r>
            <a:endParaRPr b="0" lang="pt-B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137"/>
          <p:cNvSpPr/>
          <p:nvPr/>
        </p:nvSpPr>
        <p:spPr>
          <a:xfrm>
            <a:off x="17532000" y="20228356"/>
            <a:ext cx="3958920" cy="2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2000"/>
              </a:lnSpc>
            </a:pPr>
            <a:r>
              <a:rPr b="0" lang="pt-BR" sz="2050" spc="-1" strike="noStrike">
                <a:solidFill>
                  <a:srgbClr val="777777"/>
                </a:solidFill>
                <a:latin typeface="Arial"/>
              </a:rPr>
              <a:t>dropout 0,5 / 0,4</a:t>
            </a:r>
            <a:endParaRPr b="0" lang="pt-BR" sz="2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38"/>
          <p:cNvSpPr/>
          <p:nvPr/>
        </p:nvSpPr>
        <p:spPr>
          <a:xfrm>
            <a:off x="13229280" y="20733105"/>
            <a:ext cx="8386920" cy="1176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240">
            <a:solidFill>
              <a:srgbClr val="c6e8da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8000" rIns="108000" tIns="36000" bIns="36000" anchor="ctr">
            <a:noAutofit/>
          </a:bodyPr>
          <a:p>
            <a:pPr algn="ctr">
              <a:lnSpc>
                <a:spcPct val="90000"/>
              </a:lnSpc>
            </a:pPr>
            <a:r>
              <a:rPr b="1" lang="pt-BR" sz="2300" spc="-1" strike="noStrike">
                <a:solidFill>
                  <a:srgbClr val="1e1e1e"/>
                </a:solidFill>
                <a:latin typeface="Arial"/>
              </a:rPr>
              <a:t>Adam</a:t>
            </a:r>
            <a:r>
              <a:rPr b="0" lang="pt-BR" sz="2100" spc="-1" strike="noStrike">
                <a:solidFill>
                  <a:srgbClr val="4e4e4e"/>
                </a:solidFill>
                <a:latin typeface="Arial"/>
              </a:rPr>
              <a:t> · decaimento cosseno · </a:t>
            </a:r>
            <a:r>
              <a:rPr b="1" lang="pt-BR" sz="2300" spc="-1" strike="noStrike">
                <a:solidFill>
                  <a:srgbClr val="1e1e1e"/>
                </a:solidFill>
                <a:latin typeface="Arial"/>
              </a:rPr>
              <a:t>parada por Macro-F1</a:t>
            </a:r>
            <a:endParaRPr b="0" lang="pt-BR" sz="23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b="0" lang="pt-BR" sz="2100" spc="-1" strike="noStrike">
                <a:solidFill>
                  <a:srgbClr val="4e4e4e"/>
                </a:solidFill>
                <a:latin typeface="Arial"/>
              </a:rPr>
              <a:t>treino balanceado com augmentação de áudio + Borderline-SMOTE1</a:t>
            </a:r>
            <a:endParaRPr b="0" lang="pt-BR" sz="21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b="0" lang="pt-BR" sz="2000" spc="-1" strike="noStrike">
                <a:solidFill>
                  <a:srgbClr val="777777"/>
                </a:solidFill>
                <a:latin typeface="Arial"/>
              </a:rPr>
              <a:t>z-score ajustado só nas amostras originais de treino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Right Arrow 139"/>
          <p:cNvSpPr/>
          <p:nvPr/>
        </p:nvSpPr>
        <p:spPr>
          <a:xfrm>
            <a:off x="21996000" y="18252000"/>
            <a:ext cx="430920" cy="574920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9aa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114" name="Rounded Rectangle 140"/>
          <p:cNvSpPr/>
          <p:nvPr/>
        </p:nvSpPr>
        <p:spPr>
          <a:xfrm>
            <a:off x="22537080" y="15119604"/>
            <a:ext cx="4102920" cy="7028992"/>
          </a:xfrm>
          <a:prstGeom prst="roundRect">
            <a:avLst>
              <a:gd name="adj" fmla="val 16000"/>
            </a:avLst>
          </a:prstGeom>
          <a:solidFill>
            <a:srgbClr val="fdf6e6"/>
          </a:solidFill>
          <a:ln w="25400">
            <a:solidFill>
              <a:srgbClr val="eda100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115" name="TextBox 141"/>
          <p:cNvSpPr/>
          <p:nvPr/>
        </p:nvSpPr>
        <p:spPr>
          <a:xfrm>
            <a:off x="22608000" y="15468120"/>
            <a:ext cx="4102920" cy="9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2000"/>
              </a:lnSpc>
            </a:pPr>
            <a:r>
              <a:rPr b="1" lang="pt-BR" sz="4000" spc="-1" strike="noStrike">
                <a:solidFill>
                  <a:srgbClr val="c98b00"/>
                </a:solidFill>
                <a:latin typeface="Arial"/>
              </a:rPr>
              <a:t>FUSÃO TARDIA</a:t>
            </a:r>
            <a:endParaRPr b="0" lang="pt-BR" sz="4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2000"/>
              </a:lnSpc>
            </a:pPr>
            <a:r>
              <a:rPr b="0" lang="pt-BR" sz="3100" spc="-1" strike="noStrike">
                <a:solidFill>
                  <a:srgbClr val="4e4e4e"/>
                </a:solidFill>
                <a:latin typeface="Arial"/>
              </a:rPr>
              <a:t>as 3 vogais votam</a:t>
            </a:r>
            <a:endParaRPr b="0" lang="pt-BR" sz="3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Rounded Rectangle 142"/>
          <p:cNvSpPr/>
          <p:nvPr/>
        </p:nvSpPr>
        <p:spPr>
          <a:xfrm>
            <a:off x="22968000" y="16596000"/>
            <a:ext cx="3382920" cy="68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eedaa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000" rIns="54000" tIns="7200" bIns="7200" anchor="ctr">
            <a:noAutofit/>
          </a:bodyPr>
          <a:p>
            <a:pPr algn="ctr">
              <a:lnSpc>
                <a:spcPct val="92000"/>
              </a:lnSpc>
            </a:pPr>
            <a:r>
              <a:rPr b="1" lang="pt-BR" sz="3500" spc="-1" strike="noStrike">
                <a:solidFill>
                  <a:srgbClr val="1e1e1e"/>
                </a:solidFill>
                <a:latin typeface="Arial"/>
              </a:rPr>
              <a:t>/a/</a:t>
            </a:r>
            <a:r>
              <a:rPr b="0" lang="pt-BR" sz="3000" spc="-1" strike="noStrike">
                <a:solidFill>
                  <a:srgbClr val="4e4e4e"/>
                </a:solidFill>
                <a:latin typeface="Arial"/>
              </a:rPr>
              <a:t>  P(classe)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Rounded Rectangle 143"/>
          <p:cNvSpPr/>
          <p:nvPr/>
        </p:nvSpPr>
        <p:spPr>
          <a:xfrm>
            <a:off x="22968000" y="17406000"/>
            <a:ext cx="3382920" cy="68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eedaa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000" rIns="54000" tIns="7200" bIns="7200" anchor="ctr">
            <a:noAutofit/>
          </a:bodyPr>
          <a:p>
            <a:pPr algn="ctr">
              <a:lnSpc>
                <a:spcPct val="92000"/>
              </a:lnSpc>
            </a:pPr>
            <a:r>
              <a:rPr b="1" lang="pt-BR" sz="3500" spc="-1" strike="noStrike">
                <a:solidFill>
                  <a:srgbClr val="1e1e1e"/>
                </a:solidFill>
                <a:latin typeface="Arial"/>
              </a:rPr>
              <a:t>/i/</a:t>
            </a:r>
            <a:r>
              <a:rPr b="0" lang="pt-BR" sz="3000" spc="-1" strike="noStrike">
                <a:solidFill>
                  <a:srgbClr val="4e4e4e"/>
                </a:solidFill>
                <a:latin typeface="Arial"/>
              </a:rPr>
              <a:t>  P(classe)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Rounded Rectangle 144"/>
          <p:cNvSpPr/>
          <p:nvPr/>
        </p:nvSpPr>
        <p:spPr>
          <a:xfrm>
            <a:off x="22968000" y="18216000"/>
            <a:ext cx="3382920" cy="6829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eedaa8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000" rIns="54000" tIns="7200" bIns="7200" anchor="ctr">
            <a:noAutofit/>
          </a:bodyPr>
          <a:p>
            <a:pPr algn="ctr">
              <a:lnSpc>
                <a:spcPct val="92000"/>
              </a:lnSpc>
            </a:pPr>
            <a:r>
              <a:rPr b="1" lang="pt-BR" sz="3500" spc="-1" strike="noStrike">
                <a:solidFill>
                  <a:srgbClr val="1e1e1e"/>
                </a:solidFill>
                <a:latin typeface="Arial"/>
              </a:rPr>
              <a:t>/u/</a:t>
            </a:r>
            <a:r>
              <a:rPr b="0" lang="pt-BR" sz="3000" spc="-1" strike="noStrike">
                <a:solidFill>
                  <a:srgbClr val="4e4e4e"/>
                </a:solidFill>
                <a:latin typeface="Arial"/>
              </a:rPr>
              <a:t>  P(classe)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Box 145"/>
          <p:cNvSpPr/>
          <p:nvPr/>
        </p:nvSpPr>
        <p:spPr>
          <a:xfrm>
            <a:off x="22608000" y="18984600"/>
            <a:ext cx="410292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2000"/>
              </a:lnSpc>
            </a:pPr>
            <a:r>
              <a:rPr b="1" lang="pt-BR" sz="2900" spc="-1" strike="noStrike">
                <a:solidFill>
                  <a:srgbClr val="c98b00"/>
                </a:solidFill>
                <a:latin typeface="Arial"/>
              </a:rPr>
              <a:t>↓</a:t>
            </a:r>
            <a:endParaRPr b="0" lang="pt-BR" sz="2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Rounded Rectangle 146"/>
          <p:cNvSpPr/>
          <p:nvPr/>
        </p:nvSpPr>
        <p:spPr>
          <a:xfrm>
            <a:off x="22968000" y="19386000"/>
            <a:ext cx="3382920" cy="1150920"/>
          </a:xfrm>
          <a:prstGeom prst="roundRect">
            <a:avLst>
              <a:gd name="adj" fmla="val 16000"/>
            </a:avLst>
          </a:prstGeom>
          <a:solidFill>
            <a:srgbClr val="eda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8000" rIns="108000" tIns="36000" bIns="36000" anchor="ctr">
            <a:noAutofit/>
          </a:bodyPr>
          <a:p>
            <a:pPr algn="ctr">
              <a:lnSpc>
                <a:spcPct val="92000"/>
              </a:lnSpc>
            </a:pPr>
            <a:r>
              <a:rPr b="1" lang="pt-BR" sz="3300" spc="-1" strike="noStrike">
                <a:solidFill>
                  <a:srgbClr val="ffffff"/>
                </a:solidFill>
                <a:latin typeface="Arial"/>
              </a:rPr>
              <a:t>média das</a:t>
            </a:r>
            <a:endParaRPr b="0" lang="pt-BR" sz="33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2000"/>
              </a:lnSpc>
            </a:pPr>
            <a:r>
              <a:rPr b="1" lang="pt-BR" sz="3300" spc="-1" strike="noStrike">
                <a:solidFill>
                  <a:srgbClr val="ffffff"/>
                </a:solidFill>
                <a:latin typeface="Arial"/>
              </a:rPr>
              <a:t>probabilidades</a:t>
            </a:r>
            <a:endParaRPr b="0" lang="pt-B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147"/>
          <p:cNvSpPr/>
          <p:nvPr/>
        </p:nvSpPr>
        <p:spPr>
          <a:xfrm>
            <a:off x="22824000" y="20720520"/>
            <a:ext cx="367092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0000"/>
              </a:lnSpc>
            </a:pPr>
            <a:r>
              <a:rPr b="0" lang="pt-BR" sz="3000" spc="-1" strike="noStrike">
                <a:solidFill>
                  <a:srgbClr val="777777"/>
                </a:solidFill>
                <a:latin typeface="Arial"/>
              </a:rPr>
              <a:t>nenhuma vogal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b="0" lang="pt-BR" sz="3000" spc="-1" strike="noStrike">
                <a:solidFill>
                  <a:srgbClr val="777777"/>
                </a:solidFill>
                <a:latin typeface="Arial"/>
              </a:rPr>
              <a:t>decide sozinha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Right Arrow 148"/>
          <p:cNvSpPr/>
          <p:nvPr/>
        </p:nvSpPr>
        <p:spPr>
          <a:xfrm>
            <a:off x="26892000" y="18252000"/>
            <a:ext cx="430920" cy="574920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9aa3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123" name="Rounded Rectangle 163"/>
          <p:cNvSpPr/>
          <p:nvPr/>
        </p:nvSpPr>
        <p:spPr>
          <a:xfrm>
            <a:off x="27180000" y="15119604"/>
            <a:ext cx="4680000" cy="7028992"/>
          </a:xfrm>
          <a:prstGeom prst="roundRect">
            <a:avLst>
              <a:gd name="adj" fmla="val 16667"/>
            </a:avLst>
          </a:prstGeom>
          <a:solidFill>
            <a:srgbClr val="eef1f6"/>
          </a:solidFill>
          <a:ln w="19050">
            <a:solidFill>
              <a:srgbClr val="1f3b5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124" name="TextBox 149"/>
          <p:cNvSpPr/>
          <p:nvPr/>
        </p:nvSpPr>
        <p:spPr>
          <a:xfrm>
            <a:off x="27504000" y="15509520"/>
            <a:ext cx="3958920" cy="58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2000"/>
              </a:lnSpc>
            </a:pPr>
            <a:r>
              <a:rPr b="1" lang="pt-BR" sz="4200" spc="-1" strike="noStrike">
                <a:solidFill>
                  <a:srgbClr val="1f3b57"/>
                </a:solidFill>
                <a:latin typeface="Arial"/>
              </a:rPr>
              <a:t>DECISÃO</a:t>
            </a:r>
            <a:endParaRPr b="0" lang="pt-BR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Rounded Rectangle 150"/>
          <p:cNvSpPr/>
          <p:nvPr/>
        </p:nvSpPr>
        <p:spPr>
          <a:xfrm>
            <a:off x="27504000" y="16092000"/>
            <a:ext cx="3958920" cy="1078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2860">
            <a:solidFill>
              <a:srgbClr val="1f3b5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8000" rIns="108000" tIns="36000" bIns="36000" anchor="ctr">
            <a:noAutofit/>
          </a:bodyPr>
          <a:p>
            <a:pPr algn="ctr">
              <a:lnSpc>
                <a:spcPct val="92000"/>
              </a:lnSpc>
            </a:pPr>
            <a:r>
              <a:rPr b="1" lang="pt-BR" sz="3300" spc="-1" strike="noStrike">
                <a:solidFill>
                  <a:srgbClr val="1e1e1e"/>
                </a:solidFill>
                <a:latin typeface="Arial"/>
              </a:rPr>
              <a:t>P(patológico)</a:t>
            </a:r>
            <a:endParaRPr b="0" lang="pt-BR" sz="33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2000"/>
              </a:lnSpc>
            </a:pPr>
            <a:r>
              <a:rPr b="1" lang="pt-BR" sz="3600" spc="-1" strike="noStrike">
                <a:solidFill>
                  <a:srgbClr val="1f3b57"/>
                </a:solidFill>
                <a:latin typeface="Arial"/>
              </a:rPr>
              <a:t>≥ </a:t>
            </a:r>
            <a:r>
              <a:rPr b="1" lang="pt-BR" sz="3600" spc="-1" strike="noStrike">
                <a:solidFill>
                  <a:srgbClr val="1f3b57"/>
                </a:solidFill>
                <a:latin typeface="Arial"/>
              </a:rPr>
              <a:t>0,5 ?</a:t>
            </a:r>
            <a:endParaRPr b="0" lang="pt-BR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Rounded Rectangle 151"/>
          <p:cNvSpPr/>
          <p:nvPr/>
        </p:nvSpPr>
        <p:spPr>
          <a:xfrm>
            <a:off x="27504000" y="17388000"/>
            <a:ext cx="3958920" cy="826920"/>
          </a:xfrm>
          <a:prstGeom prst="roundRect">
            <a:avLst>
              <a:gd name="adj" fmla="val 20000"/>
            </a:avLst>
          </a:prstGeom>
          <a:solidFill>
            <a:srgbClr val="ecf6ec"/>
          </a:solidFill>
          <a:ln w="22860">
            <a:solidFill>
              <a:srgbClr val="008300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000" rIns="36000" tIns="7200" bIns="7200" anchor="ctr">
            <a:noAutofit/>
          </a:bodyPr>
          <a:p>
            <a:pPr algn="ctr">
              <a:lnSpc>
                <a:spcPct val="92000"/>
              </a:lnSpc>
            </a:pPr>
            <a:r>
              <a:rPr b="0" lang="pt-BR" sz="3000" spc="-1" strike="noStrike">
                <a:solidFill>
                  <a:srgbClr val="4e4e4e"/>
                </a:solidFill>
                <a:latin typeface="Arial"/>
              </a:rPr>
              <a:t>não → </a:t>
            </a:r>
            <a:r>
              <a:rPr b="1" lang="pt-BR" sz="3700" spc="-1" strike="noStrike">
                <a:solidFill>
                  <a:srgbClr val="008300"/>
                </a:solidFill>
                <a:latin typeface="Arial"/>
              </a:rPr>
              <a:t>SAUDÁVEL</a:t>
            </a:r>
            <a:endParaRPr b="0" lang="pt-BR" sz="3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Box 152"/>
          <p:cNvSpPr/>
          <p:nvPr/>
        </p:nvSpPr>
        <p:spPr>
          <a:xfrm>
            <a:off x="27504000" y="18250560"/>
            <a:ext cx="3958920" cy="43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2000"/>
              </a:lnSpc>
            </a:pPr>
            <a:r>
              <a:rPr b="1" lang="pt-BR" sz="3100" spc="-1" strike="noStrike">
                <a:solidFill>
                  <a:srgbClr val="777777"/>
                </a:solidFill>
                <a:latin typeface="Arial"/>
              </a:rPr>
              <a:t>sim ↓</a:t>
            </a:r>
            <a:endParaRPr b="0" lang="pt-BR" sz="3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Rounded Rectangle 153"/>
          <p:cNvSpPr/>
          <p:nvPr/>
        </p:nvSpPr>
        <p:spPr>
          <a:xfrm>
            <a:off x="27504000" y="18756000"/>
            <a:ext cx="3958920" cy="682920"/>
          </a:xfrm>
          <a:prstGeom prst="roundRect">
            <a:avLst>
              <a:gd name="adj" fmla="val 22000"/>
            </a:avLst>
          </a:prstGeom>
          <a:solidFill>
            <a:srgbClr val="fdeef4"/>
          </a:solidFill>
          <a:ln w="17780">
            <a:solidFill>
              <a:srgbClr val="e87ba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rIns="43200" tIns="7200" bIns="7200" anchor="ctr">
            <a:noAutofit/>
          </a:bodyPr>
          <a:p>
            <a:pPr algn="ctr">
              <a:lnSpc>
                <a:spcPct val="92000"/>
              </a:lnSpc>
            </a:pPr>
            <a:r>
              <a:rPr b="1" lang="pt-BR" sz="3100" spc="-1" strike="noStrike">
                <a:solidFill>
                  <a:srgbClr val="b8446e"/>
                </a:solidFill>
                <a:latin typeface="Arial"/>
              </a:rPr>
              <a:t>Laringite</a:t>
            </a:r>
            <a:endParaRPr b="0" lang="pt-BR" sz="3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Rounded Rectangle 154"/>
          <p:cNvSpPr/>
          <p:nvPr/>
        </p:nvSpPr>
        <p:spPr>
          <a:xfrm>
            <a:off x="27504000" y="19512000"/>
            <a:ext cx="3958920" cy="682920"/>
          </a:xfrm>
          <a:prstGeom prst="roundRect">
            <a:avLst>
              <a:gd name="adj" fmla="val 22000"/>
            </a:avLst>
          </a:prstGeom>
          <a:solidFill>
            <a:srgbClr val="fdeef4"/>
          </a:solidFill>
          <a:ln w="17780">
            <a:solidFill>
              <a:srgbClr val="e87ba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rIns="43200" tIns="7200" bIns="7200" anchor="ctr">
            <a:noAutofit/>
          </a:bodyPr>
          <a:p>
            <a:pPr algn="ctr">
              <a:lnSpc>
                <a:spcPct val="92000"/>
              </a:lnSpc>
            </a:pPr>
            <a:r>
              <a:rPr b="1" lang="pt-BR" sz="2800" spc="-1" strike="noStrike">
                <a:solidFill>
                  <a:srgbClr val="b8446e"/>
                </a:solidFill>
                <a:latin typeface="Arial"/>
              </a:rPr>
              <a:t>Disfonia Psicogênica</a:t>
            </a:r>
            <a:endParaRPr b="0" lang="pt-BR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Rounded Rectangle 155"/>
          <p:cNvSpPr/>
          <p:nvPr/>
        </p:nvSpPr>
        <p:spPr>
          <a:xfrm>
            <a:off x="27504000" y="20268000"/>
            <a:ext cx="3958920" cy="682920"/>
          </a:xfrm>
          <a:prstGeom prst="roundRect">
            <a:avLst>
              <a:gd name="adj" fmla="val 22000"/>
            </a:avLst>
          </a:prstGeom>
          <a:solidFill>
            <a:srgbClr val="fdeef4"/>
          </a:solidFill>
          <a:ln w="17780">
            <a:solidFill>
              <a:srgbClr val="e87ba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rIns="43200" tIns="7200" bIns="7200" anchor="ctr">
            <a:noAutofit/>
          </a:bodyPr>
          <a:p>
            <a:pPr algn="ctr">
              <a:lnSpc>
                <a:spcPct val="92000"/>
              </a:lnSpc>
            </a:pPr>
            <a:r>
              <a:rPr b="1" lang="pt-BR" sz="3100" spc="-1" strike="noStrike">
                <a:solidFill>
                  <a:srgbClr val="b8446e"/>
                </a:solidFill>
                <a:latin typeface="Arial"/>
              </a:rPr>
              <a:t>Disfonia Funcional</a:t>
            </a:r>
            <a:endParaRPr b="0" lang="pt-BR" sz="3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Rounded Rectangle 156"/>
          <p:cNvSpPr/>
          <p:nvPr/>
        </p:nvSpPr>
        <p:spPr>
          <a:xfrm>
            <a:off x="27504000" y="21024000"/>
            <a:ext cx="3958920" cy="682920"/>
          </a:xfrm>
          <a:prstGeom prst="roundRect">
            <a:avLst>
              <a:gd name="adj" fmla="val 22000"/>
            </a:avLst>
          </a:prstGeom>
          <a:solidFill>
            <a:srgbClr val="fdeef4"/>
          </a:solidFill>
          <a:ln w="17780">
            <a:solidFill>
              <a:srgbClr val="e87ba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200" rIns="43200" tIns="7200" bIns="7200" anchor="ctr">
            <a:noAutofit/>
          </a:bodyPr>
          <a:p>
            <a:pPr algn="ctr">
              <a:lnSpc>
                <a:spcPct val="92000"/>
              </a:lnSpc>
            </a:pPr>
            <a:r>
              <a:rPr b="1" lang="pt-BR" sz="3100" spc="-1" strike="noStrike">
                <a:solidFill>
                  <a:srgbClr val="b8446e"/>
                </a:solidFill>
                <a:latin typeface="Arial"/>
              </a:rPr>
              <a:t>Edema de Reinke</a:t>
            </a:r>
            <a:endParaRPr b="0" lang="pt-BR" sz="3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Rounded Rectangle 157"/>
          <p:cNvSpPr/>
          <p:nvPr/>
        </p:nvSpPr>
        <p:spPr>
          <a:xfrm>
            <a:off x="936000" y="22286671"/>
            <a:ext cx="178920" cy="64692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133" name="TextBox 158"/>
          <p:cNvSpPr/>
          <p:nvPr/>
        </p:nvSpPr>
        <p:spPr>
          <a:xfrm>
            <a:off x="1314000" y="22221748"/>
            <a:ext cx="30148920" cy="81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92000"/>
              </a:lnSpc>
            </a:pPr>
            <a:r>
              <a:rPr b="1" lang="pt-BR" sz="5800" spc="-1" strike="noStrike">
                <a:solidFill>
                  <a:srgbClr val="2a78d6"/>
                </a:solidFill>
                <a:latin typeface="Arial"/>
              </a:rPr>
              <a:t>RESULTADOS</a:t>
            </a:r>
            <a:endParaRPr b="0" lang="pt-BR" sz="5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Box 159"/>
          <p:cNvSpPr/>
          <p:nvPr/>
        </p:nvSpPr>
        <p:spPr>
          <a:xfrm>
            <a:off x="1314000" y="22970642"/>
            <a:ext cx="30148920" cy="46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2000"/>
              </a:lnSpc>
            </a:pPr>
            <a:r>
              <a:rPr b="0" lang="pt-BR" sz="3300" spc="-1" strike="noStrike">
                <a:solidFill>
                  <a:srgbClr val="777777"/>
                </a:solidFill>
                <a:latin typeface="Arial"/>
              </a:rPr>
              <a:t>1.098 pacientes · predições agregadas fora da dobra de treino (out-of-fold)</a:t>
            </a:r>
            <a:endParaRPr b="0" lang="pt-B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Rounded Rectangle 160"/>
          <p:cNvSpPr/>
          <p:nvPr/>
        </p:nvSpPr>
        <p:spPr>
          <a:xfrm>
            <a:off x="936000" y="23528426"/>
            <a:ext cx="7306920" cy="2014920"/>
          </a:xfrm>
          <a:prstGeom prst="roundRect">
            <a:avLst>
              <a:gd name="adj" fmla="val 16000"/>
            </a:avLst>
          </a:prstGeom>
          <a:solidFill>
            <a:srgbClr val="e8f1fc"/>
          </a:solidFill>
          <a:ln w="22860">
            <a:solidFill>
              <a:srgbClr val="2a78d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8000" rIns="108000" tIns="36000" bIns="36000" anchor="ctr">
            <a:noAutofit/>
          </a:bodyPr>
          <a:p>
            <a:pPr algn="ctr">
              <a:lnSpc>
                <a:spcPct val="92000"/>
              </a:lnSpc>
            </a:pPr>
            <a:r>
              <a:rPr b="1" lang="pt-BR" sz="6300" spc="-1" strike="noStrike">
                <a:solidFill>
                  <a:srgbClr val="2a78d6"/>
                </a:solidFill>
                <a:latin typeface="Arial"/>
              </a:rPr>
              <a:t>69,7%</a:t>
            </a:r>
            <a:endParaRPr b="0" lang="pt-BR" sz="63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2000"/>
              </a:lnSpc>
            </a:pPr>
            <a:r>
              <a:rPr b="1" lang="pt-BR" sz="3400" spc="-1" strike="noStrike">
                <a:solidFill>
                  <a:srgbClr val="1e1e1e"/>
                </a:solidFill>
                <a:latin typeface="Arial"/>
              </a:rPr>
              <a:t>Acurácia global</a:t>
            </a:r>
            <a:endParaRPr b="0" lang="pt-BR" sz="3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2000"/>
              </a:lnSpc>
            </a:pPr>
            <a:r>
              <a:rPr b="0" lang="pt-BR" sz="3050" spc="-1" strike="noStrike">
                <a:solidFill>
                  <a:srgbClr val="4e4e4e"/>
                </a:solidFill>
                <a:latin typeface="Arial"/>
              </a:rPr>
              <a:t>IC 95%: 66,9 – 72,3%</a:t>
            </a:r>
            <a:endParaRPr b="0" lang="pt-BR" sz="3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Rounded Rectangle 161"/>
          <p:cNvSpPr/>
          <p:nvPr/>
        </p:nvSpPr>
        <p:spPr>
          <a:xfrm>
            <a:off x="8676000" y="23528426"/>
            <a:ext cx="7306920" cy="2014920"/>
          </a:xfrm>
          <a:prstGeom prst="roundRect">
            <a:avLst>
              <a:gd name="adj" fmla="val 16000"/>
            </a:avLst>
          </a:prstGeom>
          <a:solidFill>
            <a:srgbClr val="fdf0e9"/>
          </a:solidFill>
          <a:ln w="22860">
            <a:solidFill>
              <a:srgbClr val="eb683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8000" rIns="108000" tIns="36000" bIns="36000" anchor="ctr">
            <a:noAutofit/>
          </a:bodyPr>
          <a:p>
            <a:pPr algn="ctr">
              <a:lnSpc>
                <a:spcPct val="92000"/>
              </a:lnSpc>
            </a:pPr>
            <a:r>
              <a:rPr b="1" lang="pt-BR" sz="6300" spc="-1" strike="noStrike">
                <a:solidFill>
                  <a:srgbClr val="eb6834"/>
                </a:solidFill>
                <a:latin typeface="Arial"/>
              </a:rPr>
              <a:t>0,4587</a:t>
            </a:r>
            <a:endParaRPr b="0" lang="pt-BR" sz="63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2000"/>
              </a:lnSpc>
            </a:pPr>
            <a:r>
              <a:rPr b="1" lang="pt-BR" sz="3400" spc="-1" strike="noStrike">
                <a:solidFill>
                  <a:srgbClr val="1e1e1e"/>
                </a:solidFill>
                <a:latin typeface="Arial"/>
              </a:rPr>
              <a:t>Macro F1 (5 classes)</a:t>
            </a:r>
            <a:endParaRPr b="0" lang="pt-BR" sz="3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2000"/>
              </a:lnSpc>
            </a:pPr>
            <a:r>
              <a:rPr b="0" lang="pt-BR" sz="3050" spc="-1" strike="noStrike">
                <a:solidFill>
                  <a:srgbClr val="4e4e4e"/>
                </a:solidFill>
                <a:latin typeface="Arial"/>
              </a:rPr>
              <a:t>IC 95%: 0,419 – 0,495</a:t>
            </a:r>
            <a:endParaRPr b="0" lang="pt-BR" sz="3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Rounded Rectangle 162"/>
          <p:cNvSpPr/>
          <p:nvPr/>
        </p:nvSpPr>
        <p:spPr>
          <a:xfrm>
            <a:off x="16416000" y="23528426"/>
            <a:ext cx="7306920" cy="2014920"/>
          </a:xfrm>
          <a:prstGeom prst="roundRect">
            <a:avLst>
              <a:gd name="adj" fmla="val 16000"/>
            </a:avLst>
          </a:prstGeom>
          <a:solidFill>
            <a:srgbClr val="ecf6ec"/>
          </a:solidFill>
          <a:ln w="22860">
            <a:solidFill>
              <a:srgbClr val="008300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8000" rIns="108000" tIns="36000" bIns="36000" anchor="ctr">
            <a:noAutofit/>
          </a:bodyPr>
          <a:p>
            <a:pPr algn="ctr">
              <a:lnSpc>
                <a:spcPct val="92000"/>
              </a:lnSpc>
            </a:pPr>
            <a:r>
              <a:rPr b="1" lang="pt-BR" sz="6300" spc="-1" strike="noStrike">
                <a:solidFill>
                  <a:srgbClr val="008300"/>
                </a:solidFill>
                <a:latin typeface="Arial"/>
              </a:rPr>
              <a:t>p &lt; 0,001</a:t>
            </a:r>
            <a:endParaRPr b="0" lang="pt-BR" sz="63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2000"/>
              </a:lnSpc>
            </a:pPr>
            <a:r>
              <a:rPr b="1" lang="pt-BR" sz="3400" spc="-1" strike="noStrike">
                <a:solidFill>
                  <a:srgbClr val="1e1e1e"/>
                </a:solidFill>
                <a:latin typeface="Arial"/>
              </a:rPr>
              <a:t>vs. os 3 baselines</a:t>
            </a:r>
            <a:endParaRPr b="0" lang="pt-BR" sz="3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2000"/>
              </a:lnSpc>
            </a:pPr>
            <a:r>
              <a:rPr b="0" lang="pt-BR" sz="3050" spc="-1" strike="noStrike">
                <a:solidFill>
                  <a:srgbClr val="4e4e4e"/>
                </a:solidFill>
                <a:latin typeface="Arial"/>
              </a:rPr>
              <a:t>McNemar · MLP superior</a:t>
            </a:r>
            <a:endParaRPr b="0" lang="pt-BR" sz="3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163"/>
          <p:cNvSpPr/>
          <p:nvPr/>
        </p:nvSpPr>
        <p:spPr>
          <a:xfrm>
            <a:off x="24156000" y="23528426"/>
            <a:ext cx="7306920" cy="2014920"/>
          </a:xfrm>
          <a:prstGeom prst="roundRect">
            <a:avLst>
              <a:gd name="adj" fmla="val 16000"/>
            </a:avLst>
          </a:prstGeom>
          <a:solidFill>
            <a:srgbClr val="e9f9f2"/>
          </a:solidFill>
          <a:ln w="22860">
            <a:solidFill>
              <a:srgbClr val="179669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8000" rIns="108000" tIns="36000" bIns="36000" anchor="ctr">
            <a:noAutofit/>
          </a:bodyPr>
          <a:p>
            <a:pPr algn="ctr">
              <a:lnSpc>
                <a:spcPct val="92000"/>
              </a:lnSpc>
            </a:pPr>
            <a:r>
              <a:rPr b="1" lang="pt-BR" sz="6300" spc="-1" strike="noStrike">
                <a:solidFill>
                  <a:srgbClr val="179669"/>
                </a:solidFill>
                <a:latin typeface="Arial"/>
              </a:rPr>
              <a:t>0,867</a:t>
            </a:r>
            <a:endParaRPr b="0" lang="pt-BR" sz="63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2000"/>
              </a:lnSpc>
            </a:pPr>
            <a:r>
              <a:rPr b="1" lang="pt-BR" sz="3400" spc="-1" strike="noStrike">
                <a:solidFill>
                  <a:srgbClr val="1e1e1e"/>
                </a:solidFill>
                <a:latin typeface="Arial"/>
              </a:rPr>
              <a:t>F1 da classe Saudável</a:t>
            </a:r>
            <a:endParaRPr b="0" lang="pt-BR" sz="3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2000"/>
              </a:lnSpc>
            </a:pPr>
            <a:r>
              <a:rPr b="0" lang="pt-BR" sz="3050" spc="-1" strike="noStrike">
                <a:solidFill>
                  <a:srgbClr val="4e4e4e"/>
                </a:solidFill>
                <a:latin typeface="Arial"/>
              </a:rPr>
              <a:t>recall de 92% nos saudáveis</a:t>
            </a:r>
            <a:endParaRPr b="0" lang="pt-BR" sz="3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3" name="Picture 162" descr="poster_confusa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6000" y="26120750"/>
            <a:ext cx="8566920" cy="5026680"/>
          </a:xfrm>
          <a:prstGeom prst="rect">
            <a:avLst/>
          </a:prstGeom>
        </p:spPr>
      </p:pic>
      <p:sp>
        <p:nvSpPr>
          <p:cNvPr id="140" name="TextBox 165"/>
          <p:cNvSpPr/>
          <p:nvPr/>
        </p:nvSpPr>
        <p:spPr>
          <a:xfrm>
            <a:off x="936000" y="31184697"/>
            <a:ext cx="8566920" cy="74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0000"/>
              </a:lnSpc>
            </a:pPr>
            <a:r>
              <a:rPr b="1" lang="pt-BR" sz="2700" spc="-1" strike="noStrike">
                <a:solidFill>
                  <a:srgbClr val="2a78d6"/>
                </a:solidFill>
                <a:latin typeface="Arial"/>
              </a:rPr>
              <a:t>Onde o modelo erra. </a:t>
            </a:r>
            <a:r>
              <a:rPr b="0" lang="pt-BR" sz="2700" spc="-1" strike="noStrike">
                <a:solidFill>
                  <a:srgbClr val="4e4e4e"/>
                </a:solidFill>
                <a:latin typeface="Arial"/>
              </a:rPr>
              <a:t>As duas disfonias funcionais se trocam entre si (27 e 10 casos) e vazam para Saudável.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4" name="Picture 163" descr="poster_f1_class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80000" y="26120750"/>
            <a:ext cx="7911720" cy="5034240"/>
          </a:xfrm>
          <a:prstGeom prst="rect">
            <a:avLst/>
          </a:prstGeom>
        </p:spPr>
      </p:pic>
      <p:sp>
        <p:nvSpPr>
          <p:cNvPr id="142" name="TextBox 167"/>
          <p:cNvSpPr/>
          <p:nvPr/>
        </p:nvSpPr>
        <p:spPr>
          <a:xfrm>
            <a:off x="10080000" y="31192012"/>
            <a:ext cx="7911720" cy="74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0000"/>
              </a:lnSpc>
            </a:pPr>
            <a:r>
              <a:rPr b="1" lang="pt-BR" sz="2700" spc="-1" strike="noStrike">
                <a:solidFill>
                  <a:srgbClr val="eb6834"/>
                </a:solidFill>
                <a:latin typeface="Arial"/>
              </a:rPr>
              <a:t>Desempenho por classe. </a:t>
            </a:r>
            <a:r>
              <a:rPr b="0" lang="pt-BR" sz="2700" spc="-1" strike="noStrike">
                <a:solidFill>
                  <a:srgbClr val="4e4e4e"/>
                </a:solidFill>
                <a:latin typeface="Arial"/>
              </a:rPr>
              <a:t>Saudável e Reinke acima da média; as funcionais, abaixo.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Rounded Rectangle 168"/>
          <p:cNvSpPr/>
          <p:nvPr/>
        </p:nvSpPr>
        <p:spPr>
          <a:xfrm>
            <a:off x="18568800" y="26120750"/>
            <a:ext cx="12894120" cy="50342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0320">
            <a:solidFill>
              <a:srgbClr val="d8dde4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2000" rIns="252000" tIns="144000" bIns="144000" anchor="ctr">
            <a:noAutofit/>
          </a:bodyPr>
          <a:p>
            <a:pPr algn="ctr">
              <a:lnSpc>
                <a:spcPct val="95000"/>
              </a:lnSpc>
            </a:pPr>
            <a:r>
              <a:rPr b="1" lang="pt-BR" sz="3600" spc="-1" strike="noStrike">
                <a:solidFill>
                  <a:srgbClr val="1f3b57"/>
                </a:solidFill>
                <a:latin typeface="Arial"/>
              </a:rPr>
              <a:t>O TETO ACÚSTICO</a:t>
            </a:r>
            <a:endParaRPr b="0" lang="pt-BR" sz="3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5000"/>
              </a:lnSpc>
            </a:pP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5000"/>
              </a:lnSpc>
            </a:pPr>
            <a:r>
              <a:rPr b="0" lang="pt-BR" sz="3000" spc="-1" strike="noStrike">
                <a:solidFill>
                  <a:srgbClr val="1e1e1e"/>
                </a:solidFill>
                <a:latin typeface="Arial"/>
              </a:rPr>
              <a:t>Disfonia psicogênica e funcional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5000"/>
              </a:lnSpc>
            </a:pPr>
            <a:r>
              <a:rPr b="1" lang="pt-BR" sz="3100" spc="-1" strike="noStrike">
                <a:solidFill>
                  <a:srgbClr val="1f3b57"/>
                </a:solidFill>
                <a:latin typeface="Arial"/>
              </a:rPr>
              <a:t>não têm lesão estrutural</a:t>
            </a:r>
            <a:endParaRPr b="0" lang="pt-BR" sz="31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5000"/>
              </a:lnSpc>
            </a:pPr>
            <a:r>
              <a:rPr b="0" lang="pt-BR" sz="3000" spc="-1" strike="noStrike">
                <a:solidFill>
                  <a:srgbClr val="1e1e1e"/>
                </a:solidFill>
                <a:latin typeface="Arial"/>
              </a:rPr>
              <a:t>— </a:t>
            </a:r>
            <a:r>
              <a:rPr b="0" lang="pt-BR" sz="3000" spc="-1" strike="noStrike">
                <a:solidFill>
                  <a:srgbClr val="1e1e1e"/>
                </a:solidFill>
                <a:latin typeface="Arial"/>
              </a:rPr>
              <a:t>a voz sozinha não as separa.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5000"/>
              </a:lnSpc>
            </a:pP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5000"/>
              </a:lnSpc>
            </a:pPr>
            <a:r>
              <a:rPr b="1" lang="pt-BR" sz="3100" spc="-1" strike="noStrike">
                <a:solidFill>
                  <a:srgbClr val="c02e2b"/>
                </a:solidFill>
                <a:latin typeface="Arial"/>
              </a:rPr>
              <a:t>37 dos 203 pacientes</a:t>
            </a:r>
            <a:r>
              <a:rPr b="0" lang="pt-BR" sz="3000" spc="-1" strike="noStrike">
                <a:solidFill>
                  <a:srgbClr val="1e1e1e"/>
                </a:solidFill>
                <a:latin typeface="Arial"/>
              </a:rPr>
              <a:t> dessas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5000"/>
              </a:lnSpc>
            </a:pPr>
            <a:r>
              <a:rPr b="0" lang="pt-BR" sz="3000" spc="-1" strike="noStrike">
                <a:solidFill>
                  <a:srgbClr val="1e1e1e"/>
                </a:solidFill>
                <a:latin typeface="Arial"/>
              </a:rPr>
              <a:t>duas classes foram trocados entre si.</a:t>
            </a:r>
            <a:endParaRPr b="0" lang="pt-BR" sz="3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5000"/>
              </a:lnSpc>
            </a:pP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5000"/>
              </a:lnSpc>
            </a:pPr>
            <a:r>
              <a:rPr b="0" lang="pt-BR" sz="2900" spc="-1" strike="noStrike">
                <a:solidFill>
                  <a:srgbClr val="4e4e4e"/>
                </a:solidFill>
                <a:latin typeface="Arial"/>
              </a:rPr>
              <a:t>Nos 12 braços de arquitetura</a:t>
            </a:r>
            <a:endParaRPr b="0" lang="pt-BR" sz="29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5000"/>
              </a:lnSpc>
            </a:pPr>
            <a:r>
              <a:rPr b="0" lang="pt-BR" sz="2900" spc="-1" strike="noStrike">
                <a:solidFill>
                  <a:srgbClr val="4e4e4e"/>
                </a:solidFill>
                <a:latin typeface="Arial"/>
              </a:rPr>
              <a:t>testados, o melhor F1 nessas classes</a:t>
            </a:r>
            <a:endParaRPr b="0" lang="pt-BR" sz="29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5000"/>
              </a:lnSpc>
            </a:pPr>
            <a:r>
              <a:rPr b="0" lang="pt-BR" sz="2900" spc="-1" strike="noStrike">
                <a:solidFill>
                  <a:srgbClr val="4e4e4e"/>
                </a:solidFill>
                <a:latin typeface="Arial"/>
              </a:rPr>
              <a:t>foi 0,36 e 0,27.</a:t>
            </a:r>
            <a:endParaRPr b="0" lang="pt-BR" sz="2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Box 169"/>
          <p:cNvSpPr/>
          <p:nvPr/>
        </p:nvSpPr>
        <p:spPr>
          <a:xfrm>
            <a:off x="936000" y="32070751"/>
            <a:ext cx="1892628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92000"/>
              </a:lnSpc>
            </a:pPr>
            <a:r>
              <a:rPr b="1" lang="pt-BR" sz="3900" spc="-1" strike="noStrike">
                <a:solidFill>
                  <a:srgbClr val="1f3b57"/>
                </a:solidFill>
                <a:latin typeface="Arial"/>
              </a:rPr>
              <a:t>EVIDÊNCIA A/B — </a:t>
            </a:r>
            <a:r>
              <a:rPr b="0" lang="pt-BR" sz="3300" spc="-1" strike="noStrike">
                <a:solidFill>
                  <a:srgbClr val="4e4e4e"/>
                </a:solidFill>
                <a:latin typeface="Arial"/>
              </a:rPr>
              <a:t>mesma seed, mesmas 5 dobras, decisão por regra fixa</a:t>
            </a:r>
            <a:endParaRPr b="0" lang="pt-BR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Box 170"/>
          <p:cNvSpPr/>
          <p:nvPr/>
        </p:nvSpPr>
        <p:spPr>
          <a:xfrm>
            <a:off x="16155000" y="32112813"/>
            <a:ext cx="15307920" cy="46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92000"/>
              </a:lnSpc>
            </a:pPr>
            <a:r>
              <a:rPr b="1" lang="pt-BR" sz="3300" spc="-1" strike="noStrike">
                <a:solidFill>
                  <a:srgbClr val="179669"/>
                </a:solidFill>
                <a:latin typeface="Arial"/>
              </a:rPr>
              <a:t>GAP 3 — </a:t>
            </a:r>
            <a:r>
              <a:rPr b="0" lang="pt-BR" sz="3200" spc="-1" strike="noStrike">
                <a:solidFill>
                  <a:srgbClr val="4e4e4e"/>
                </a:solidFill>
                <a:latin typeface="Arial"/>
              </a:rPr>
              <a:t>profundidade da rede: 12 braços (4 arquiteturas × 3 regularizações)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6" name="Picture 171" descr="poster_gaps_ab.png"/>
          <p:cNvPicPr/>
          <p:nvPr/>
        </p:nvPicPr>
        <p:blipFill>
          <a:blip r:embed="rId6"/>
          <a:stretch/>
        </p:blipFill>
        <p:spPr>
          <a:xfrm>
            <a:off x="936000" y="32703516"/>
            <a:ext cx="13599209" cy="4754880"/>
          </a:xfrm>
          <a:prstGeom prst="rect">
            <a:avLst/>
          </a:prstGeom>
          <a:ln w="0">
            <a:noFill/>
          </a:ln>
        </p:spPr>
      </p:pic>
      <p:pic>
        <p:nvPicPr>
          <p:cNvPr id="147" name="Picture 172" descr="poster_arquiteturas.png"/>
          <p:cNvPicPr/>
          <p:nvPr/>
        </p:nvPicPr>
        <p:blipFill>
          <a:blip r:embed="rId7"/>
          <a:stretch/>
        </p:blipFill>
        <p:spPr>
          <a:xfrm>
            <a:off x="16155000" y="32703516"/>
            <a:ext cx="15307920" cy="4684320"/>
          </a:xfrm>
          <a:prstGeom prst="rect">
            <a:avLst/>
          </a:prstGeom>
          <a:ln w="0">
            <a:noFill/>
          </a:ln>
        </p:spPr>
      </p:pic>
      <p:sp>
        <p:nvSpPr>
          <p:cNvPr id="148" name="Rounded Rectangle 173"/>
          <p:cNvSpPr/>
          <p:nvPr/>
        </p:nvSpPr>
        <p:spPr>
          <a:xfrm>
            <a:off x="936000" y="37658649"/>
            <a:ext cx="178920" cy="646920"/>
          </a:xfrm>
          <a:prstGeom prst="roundRect">
            <a:avLst>
              <a:gd name="adj" fmla="val 50000"/>
            </a:avLst>
          </a:prstGeom>
          <a:solidFill>
            <a:srgbClr val="0083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149" name="TextBox 174"/>
          <p:cNvSpPr/>
          <p:nvPr/>
        </p:nvSpPr>
        <p:spPr>
          <a:xfrm>
            <a:off x="1314000" y="37593727"/>
            <a:ext cx="15460920" cy="81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92000"/>
              </a:lnSpc>
            </a:pPr>
            <a:r>
              <a:rPr b="1" lang="pt-BR" sz="5800" spc="-1" strike="noStrike">
                <a:solidFill>
                  <a:srgbClr val="008300"/>
                </a:solidFill>
                <a:latin typeface="Arial"/>
              </a:rPr>
              <a:t>CONCLUSÃO</a:t>
            </a:r>
            <a:endParaRPr b="0" lang="pt-BR" sz="5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Rounded Rectangle 175"/>
          <p:cNvSpPr/>
          <p:nvPr/>
        </p:nvSpPr>
        <p:spPr>
          <a:xfrm>
            <a:off x="17496000" y="37658649"/>
            <a:ext cx="178920" cy="646920"/>
          </a:xfrm>
          <a:prstGeom prst="roundRect">
            <a:avLst>
              <a:gd name="adj" fmla="val 50000"/>
            </a:avLst>
          </a:prstGeom>
          <a:solidFill>
            <a:srgbClr val="1f3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pt-BR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151" name="TextBox 176"/>
          <p:cNvSpPr/>
          <p:nvPr/>
        </p:nvSpPr>
        <p:spPr>
          <a:xfrm>
            <a:off x="17874000" y="37593727"/>
            <a:ext cx="13588920" cy="81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92000"/>
              </a:lnSpc>
            </a:pPr>
            <a:r>
              <a:rPr b="1" lang="pt-BR" sz="5800" spc="-1" strike="noStrike">
                <a:solidFill>
                  <a:srgbClr val="1f3b57"/>
                </a:solidFill>
                <a:latin typeface="Arial"/>
              </a:rPr>
              <a:t>REFERÊNCIAS</a:t>
            </a:r>
            <a:endParaRPr b="0" lang="pt-BR" sz="5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Rounded Rectangle 177"/>
          <p:cNvSpPr/>
          <p:nvPr/>
        </p:nvSpPr>
        <p:spPr>
          <a:xfrm>
            <a:off x="936000" y="38541045"/>
            <a:ext cx="3688920" cy="2513880"/>
          </a:xfrm>
          <a:prstGeom prst="roundRect">
            <a:avLst>
              <a:gd name="adj" fmla="val 16000"/>
            </a:avLst>
          </a:prstGeom>
          <a:solidFill>
            <a:srgbClr val="ecf6ec"/>
          </a:solidFill>
          <a:ln w="22860">
            <a:solidFill>
              <a:srgbClr val="008300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6000" rIns="126000" tIns="72000" bIns="72000" anchor="ctr">
            <a:noAutofit/>
          </a:bodyPr>
          <a:p>
            <a:pPr algn="ctr">
              <a:lnSpc>
                <a:spcPct val="94000"/>
              </a:lnSpc>
            </a:pPr>
            <a:r>
              <a:rPr b="1" lang="pt-BR" sz="2700" spc="-1" strike="noStrike">
                <a:solidFill>
                  <a:srgbClr val="008300"/>
                </a:solidFill>
                <a:latin typeface="Arial"/>
              </a:rPr>
              <a:t>Triagem funciona.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4000"/>
              </a:lnSpc>
            </a:pPr>
            <a:endParaRPr b="0" lang="pt-BR" sz="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4000"/>
              </a:lnSpc>
            </a:pPr>
            <a:r>
              <a:rPr b="0" lang="pt-BR" sz="2400" spc="-1" strike="noStrike">
                <a:solidFill>
                  <a:srgbClr val="1e1e1e"/>
                </a:solidFill>
                <a:latin typeface="Arial"/>
              </a:rPr>
              <a:t>Saudável × patológico se separa: F1 0,867, recall 92%.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Rounded Rectangle 178"/>
          <p:cNvSpPr/>
          <p:nvPr/>
        </p:nvSpPr>
        <p:spPr>
          <a:xfrm>
            <a:off x="4986000" y="38541045"/>
            <a:ext cx="3688920" cy="2513880"/>
          </a:xfrm>
          <a:prstGeom prst="roundRect">
            <a:avLst>
              <a:gd name="adj" fmla="val 16000"/>
            </a:avLst>
          </a:prstGeom>
          <a:solidFill>
            <a:srgbClr val="e8f1fc"/>
          </a:solidFill>
          <a:ln w="22860">
            <a:solidFill>
              <a:srgbClr val="2a78d6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6000" rIns="126000" tIns="72000" bIns="72000" anchor="ctr">
            <a:noAutofit/>
          </a:bodyPr>
          <a:p>
            <a:pPr algn="ctr">
              <a:lnSpc>
                <a:spcPct val="94000"/>
              </a:lnSpc>
            </a:pPr>
            <a:r>
              <a:rPr b="1" lang="pt-BR" sz="2700" spc="-1" strike="noStrike">
                <a:solidFill>
                  <a:srgbClr val="2a78d6"/>
                </a:solidFill>
                <a:latin typeface="Arial"/>
              </a:rPr>
              <a:t>Reinke é separável.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4000"/>
              </a:lnSpc>
            </a:pPr>
            <a:endParaRPr b="0" lang="pt-BR" sz="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4000"/>
              </a:lnSpc>
            </a:pPr>
            <a:r>
              <a:rPr b="0" lang="pt-BR" sz="2400" spc="-1" strike="noStrike">
                <a:solidFill>
                  <a:srgbClr val="1e1e1e"/>
                </a:solidFill>
                <a:latin typeface="Arial"/>
              </a:rPr>
              <a:t>A lesão estrutural deixa marca acústica (F1 0,456).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Rounded Rectangle 179"/>
          <p:cNvSpPr/>
          <p:nvPr/>
        </p:nvSpPr>
        <p:spPr>
          <a:xfrm>
            <a:off x="9036000" y="38541045"/>
            <a:ext cx="3688920" cy="2513880"/>
          </a:xfrm>
          <a:prstGeom prst="roundRect">
            <a:avLst>
              <a:gd name="adj" fmla="val 16000"/>
            </a:avLst>
          </a:prstGeom>
          <a:solidFill>
            <a:srgbClr val="fdeceb"/>
          </a:solidFill>
          <a:ln w="22860">
            <a:solidFill>
              <a:srgbClr val="c02e2b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6000" rIns="126000" tIns="72000" bIns="72000" anchor="ctr">
            <a:noAutofit/>
          </a:bodyPr>
          <a:p>
            <a:pPr algn="ctr">
              <a:lnSpc>
                <a:spcPct val="94000"/>
              </a:lnSpc>
            </a:pPr>
            <a:r>
              <a:rPr b="1" lang="pt-BR" sz="2700" spc="-1" strike="noStrike">
                <a:solidFill>
                  <a:srgbClr val="c02e2b"/>
                </a:solidFill>
                <a:latin typeface="Arial"/>
              </a:rPr>
              <a:t>Teto nas funcionais.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4000"/>
              </a:lnSpc>
            </a:pPr>
            <a:endParaRPr b="0" lang="pt-BR" sz="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4000"/>
              </a:lnSpc>
            </a:pPr>
            <a:r>
              <a:rPr b="0" lang="pt-BR" sz="2400" spc="-1" strike="noStrike">
                <a:solidFill>
                  <a:srgbClr val="1e1e1e"/>
                </a:solidFill>
                <a:latin typeface="Arial"/>
              </a:rPr>
              <a:t>Psicogênica (0,330) × funcional (0,242) exigem sinal além da voz.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Rounded Rectangle 180"/>
          <p:cNvSpPr/>
          <p:nvPr/>
        </p:nvSpPr>
        <p:spPr>
          <a:xfrm>
            <a:off x="13086000" y="38541045"/>
            <a:ext cx="3688920" cy="2513880"/>
          </a:xfrm>
          <a:prstGeom prst="roundRect">
            <a:avLst>
              <a:gd name="adj" fmla="val 16000"/>
            </a:avLst>
          </a:prstGeom>
          <a:solidFill>
            <a:srgbClr val="f2f4f7"/>
          </a:solidFill>
          <a:ln w="22860">
            <a:solidFill>
              <a:srgbClr val="1f3b57"/>
            </a:solidFill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6000" rIns="126000" tIns="72000" bIns="72000" anchor="ctr">
            <a:noAutofit/>
          </a:bodyPr>
          <a:p>
            <a:pPr algn="ctr">
              <a:lnSpc>
                <a:spcPct val="94000"/>
              </a:lnSpc>
            </a:pPr>
            <a:r>
              <a:rPr b="1" lang="pt-BR" sz="2700" spc="-1" strike="noStrike">
                <a:solidFill>
                  <a:srgbClr val="1f3b57"/>
                </a:solidFill>
                <a:latin typeface="Arial"/>
              </a:rPr>
              <a:t>Rigor acima do ganho.</a:t>
            </a:r>
            <a:endParaRPr b="0" lang="pt-BR" sz="27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4000"/>
              </a:lnSpc>
            </a:pPr>
            <a:endParaRPr b="0" lang="pt-BR" sz="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4000"/>
              </a:lnSpc>
            </a:pPr>
            <a:r>
              <a:rPr b="0" lang="pt-BR" sz="2400" spc="-1" strike="noStrike">
                <a:solidFill>
                  <a:srgbClr val="1e1e1e"/>
                </a:solidFill>
                <a:latin typeface="Arial"/>
              </a:rPr>
              <a:t>Das 3 técnicas propostas, 1 foi rejeitada pela própria evidência A/B.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Box 181"/>
          <p:cNvSpPr/>
          <p:nvPr/>
        </p:nvSpPr>
        <p:spPr>
          <a:xfrm>
            <a:off x="17496000" y="38432232"/>
            <a:ext cx="1173492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0000"/>
              </a:lnSpc>
            </a:pPr>
            <a:r>
              <a:rPr b="1" lang="pt-BR" sz="2100" spc="-1" strike="noStrike">
                <a:solidFill>
                  <a:srgbClr val="1e1e1e"/>
                </a:solidFill>
                <a:latin typeface="Arial"/>
              </a:rPr>
              <a:t>BARRY, W. J.; PÜTZER, M. </a:t>
            </a:r>
            <a:r>
              <a:rPr b="0" lang="pt-BR" sz="2100" spc="-1" strike="noStrike">
                <a:solidFill>
                  <a:srgbClr val="4e4e4e"/>
                </a:solidFill>
                <a:latin typeface="Arial"/>
              </a:rPr>
              <a:t>Saarbrücken Voice Database. Univ. des Saarlandes, 2007.</a:t>
            </a:r>
            <a:endParaRPr b="0" lang="pt-B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Box 182"/>
          <p:cNvSpPr/>
          <p:nvPr/>
        </p:nvSpPr>
        <p:spPr>
          <a:xfrm>
            <a:off x="17496000" y="38871144"/>
            <a:ext cx="1173492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0000"/>
              </a:lnSpc>
            </a:pPr>
            <a:r>
              <a:rPr b="1" lang="pt-BR" sz="2100" spc="-1" strike="noStrike">
                <a:solidFill>
                  <a:srgbClr val="1e1e1e"/>
                </a:solidFill>
                <a:latin typeface="Arial"/>
              </a:rPr>
              <a:t>HAN, H.; WANG, W.-Y.; MAO, B.-H. </a:t>
            </a:r>
            <a:r>
              <a:rPr b="0" lang="pt-BR" sz="2100" spc="-1" strike="noStrike">
                <a:solidFill>
                  <a:srgbClr val="4e4e4e"/>
                </a:solidFill>
                <a:latin typeface="Arial"/>
              </a:rPr>
              <a:t>Borderline-SMOTE. LNCS, v. 3644, p. 878-887, 2005.</a:t>
            </a:r>
            <a:endParaRPr b="0" lang="pt-B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183"/>
          <p:cNvSpPr/>
          <p:nvPr/>
        </p:nvSpPr>
        <p:spPr>
          <a:xfrm>
            <a:off x="17496000" y="39310056"/>
            <a:ext cx="1173492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0000"/>
              </a:lnSpc>
            </a:pPr>
            <a:r>
              <a:rPr b="1" lang="pt-BR" sz="2100" spc="-1" strike="noStrike">
                <a:solidFill>
                  <a:srgbClr val="1e1e1e"/>
                </a:solidFill>
                <a:latin typeface="Arial"/>
              </a:rPr>
              <a:t>VRBA, J. et al. </a:t>
            </a:r>
            <a:r>
              <a:rPr b="0" lang="pt-BR" sz="2100" spc="-1" strike="noStrike">
                <a:solidFill>
                  <a:srgbClr val="4e4e4e"/>
                </a:solidFill>
                <a:latin typeface="Arial"/>
              </a:rPr>
              <a:t>Reproducible ML-based voice pathology detection. J. Voice, 2025.</a:t>
            </a:r>
            <a:endParaRPr b="0" lang="pt-B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Box 184"/>
          <p:cNvSpPr/>
          <p:nvPr/>
        </p:nvSpPr>
        <p:spPr>
          <a:xfrm>
            <a:off x="17496000" y="39748968"/>
            <a:ext cx="1173492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0000"/>
              </a:lnSpc>
            </a:pPr>
            <a:r>
              <a:rPr b="1" lang="pt-BR" sz="2100" spc="-1" strike="noStrike">
                <a:solidFill>
                  <a:srgbClr val="1e1e1e"/>
                </a:solidFill>
                <a:latin typeface="Arial"/>
              </a:rPr>
              <a:t>LEE, J.-Y. </a:t>
            </a:r>
            <a:r>
              <a:rPr b="0" lang="pt-BR" sz="2100" spc="-1" strike="noStrike">
                <a:solidFill>
                  <a:srgbClr val="4e4e4e"/>
                </a:solidFill>
                <a:latin typeface="Arial"/>
              </a:rPr>
              <a:t>Deep learning for pathological voice detection. Appl. Sci., v. 11, 2021.</a:t>
            </a:r>
            <a:endParaRPr b="0" lang="pt-B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Box 185"/>
          <p:cNvSpPr/>
          <p:nvPr/>
        </p:nvSpPr>
        <p:spPr>
          <a:xfrm>
            <a:off x="17496000" y="40187880"/>
            <a:ext cx="1173492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0000"/>
              </a:lnSpc>
            </a:pPr>
            <a:r>
              <a:rPr b="1" lang="pt-BR" sz="2100" spc="-1" strike="noStrike">
                <a:solidFill>
                  <a:srgbClr val="1e1e1e"/>
                </a:solidFill>
                <a:latin typeface="Arial"/>
              </a:rPr>
              <a:t>GUIDO, R. C. </a:t>
            </a:r>
            <a:r>
              <a:rPr b="0" lang="pt-BR" sz="2100" spc="-1" strike="noStrike">
                <a:solidFill>
                  <a:srgbClr val="4e4e4e"/>
                </a:solidFill>
                <a:latin typeface="Arial"/>
              </a:rPr>
              <a:t>Wavelets behind the scenes. Physics Reports, v. 985, 2022.</a:t>
            </a:r>
            <a:endParaRPr b="0" lang="pt-B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Box 186"/>
          <p:cNvSpPr/>
          <p:nvPr/>
        </p:nvSpPr>
        <p:spPr>
          <a:xfrm>
            <a:off x="17496000" y="40626792"/>
            <a:ext cx="1173492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90000"/>
              </a:lnSpc>
            </a:pPr>
            <a:r>
              <a:rPr b="1" lang="pt-BR" sz="2100" spc="-1" strike="noStrike">
                <a:solidFill>
                  <a:srgbClr val="1e1e1e"/>
                </a:solidFill>
                <a:latin typeface="Arial"/>
              </a:rPr>
              <a:t>KINGMA, D. P.; BA, J. </a:t>
            </a:r>
            <a:r>
              <a:rPr b="0" lang="pt-BR" sz="2100" spc="-1" strike="noStrike">
                <a:solidFill>
                  <a:srgbClr val="4e4e4e"/>
                </a:solidFill>
                <a:latin typeface="Arial"/>
              </a:rPr>
              <a:t>Adam: stochastic optimization. ICLR, 2015.</a:t>
            </a:r>
            <a:endParaRPr b="0" lang="pt-BR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187"/>
          <p:cNvSpPr/>
          <p:nvPr/>
        </p:nvSpPr>
        <p:spPr>
          <a:xfrm>
            <a:off x="28944000" y="40315680"/>
            <a:ext cx="287892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90000"/>
              </a:lnSpc>
            </a:pPr>
            <a:r>
              <a:rPr b="1" lang="pt-BR" sz="2000" spc="-1" strike="noStrike">
                <a:solidFill>
                  <a:srgbClr val="1e1e1e"/>
                </a:solidFill>
                <a:latin typeface="Arial"/>
              </a:rPr>
              <a:t>código-fonte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b="0" lang="pt-BR" sz="2000" spc="-1" strike="noStrike">
                <a:solidFill>
                  <a:srgbClr val="4e4e4e"/>
                </a:solidFill>
                <a:latin typeface="Arial"/>
              </a:rPr>
              <a:t>e dados completos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2021-09-08T13:51:19Z</dcterms:created>
  <dc:creator>Alessandro</dc:creator>
  <dc:description/>
  <dc:language>pt-BR</dc:language>
  <cp:lastModifiedBy/>
  <dcterms:modified xsi:type="dcterms:W3CDTF">2026-08-04T17:48:39Z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