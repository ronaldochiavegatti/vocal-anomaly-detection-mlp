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</p:sldIdLst>
  <p:sldSz cx="32404050" cy="432054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4F6FD7A-C3A2-43FA-A50A-1F83979ED49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620000" y="1723680"/>
            <a:ext cx="29162880" cy="721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1620000" y="10109880"/>
            <a:ext cx="29162880" cy="2505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3AA8CA1-25D0-4F41-90B1-A1769ED5C51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620000" y="1723680"/>
            <a:ext cx="29162880" cy="721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ubTitle"/>
          </p:nvPr>
        </p:nvSpPr>
        <p:spPr>
          <a:xfrm>
            <a:off x="1620000" y="10109880"/>
            <a:ext cx="29162880" cy="2505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AE4839B-B4D8-4953-AEF8-253A1FAC956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F5145C7-2B16-4CA3-AEA6-770F19FBEEE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A0D23F8-2051-434A-83C5-CC5084DE4C0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400948A-C737-4D47-B2BC-C2F86EF31D4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000D748-91D4-4C4A-97B3-780FAC921B6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1620000" y="1723680"/>
            <a:ext cx="29162880" cy="721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EF73363-3222-4CB8-8205-5E519D18ED9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AC63F03-2540-4374-8350-05FF1370C9D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1620000" y="1723680"/>
            <a:ext cx="29162880" cy="721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/>
          </p:nvPr>
        </p:nvSpPr>
        <p:spPr>
          <a:xfrm>
            <a:off x="1620000" y="10109880"/>
            <a:ext cx="14231160" cy="2505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/>
          </p:nvPr>
        </p:nvSpPr>
        <p:spPr>
          <a:xfrm>
            <a:off x="16563240" y="10109880"/>
            <a:ext cx="14231160" cy="2505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85927966-8566-4A3F-A7E2-6A340CA44C2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2DFD426A-B7A3-48E7-A2D7-E19B8C4697F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11071080" y="39344760"/>
            <a:ext cx="102607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23223600" y="39344760"/>
            <a:ext cx="75589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720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329E7B9-D896-4711-A677-71757BCB646F}" type="slidenum">
              <a:rPr b="0" lang="en-US" sz="7200" spc="-1" strike="noStrike">
                <a:solidFill>
                  <a:schemeClr val="dk1"/>
                </a:solidFill>
                <a:latin typeface="Arial"/>
                <a:ea typeface="Arial"/>
              </a:rPr>
              <a:t>1</a:t>
            </a:fld>
            <a:endParaRPr b="0" lang="pt-BR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1620720" y="39344760"/>
            <a:ext cx="75589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620000" y="1723680"/>
            <a:ext cx="29162520" cy="721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1620000" y="10109880"/>
            <a:ext cx="29162520" cy="2505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ftr" idx="4"/>
          </p:nvPr>
        </p:nvSpPr>
        <p:spPr>
          <a:xfrm>
            <a:off x="11071080" y="39344760"/>
            <a:ext cx="102607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5"/>
          </p:nvPr>
        </p:nvSpPr>
        <p:spPr>
          <a:xfrm>
            <a:off x="23223600" y="39344760"/>
            <a:ext cx="75589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720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649E83C-C374-42DC-95A6-ABA9F7AF1CA3}" type="slidenum">
              <a:rPr b="0" lang="en-US" sz="7200" spc="-1" strike="noStrike">
                <a:solidFill>
                  <a:schemeClr val="dk1"/>
                </a:solidFill>
                <a:latin typeface="Arial"/>
                <a:ea typeface="Arial"/>
              </a:rPr>
              <a:t>&lt;número&gt;</a:t>
            </a:fld>
            <a:endParaRPr b="0" lang="pt-BR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dt" idx="6"/>
          </p:nvPr>
        </p:nvSpPr>
        <p:spPr>
          <a:xfrm>
            <a:off x="1620720" y="39344760"/>
            <a:ext cx="75589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1620000" y="1723680"/>
            <a:ext cx="29162520" cy="721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ftr" idx="7"/>
          </p:nvPr>
        </p:nvSpPr>
        <p:spPr>
          <a:xfrm>
            <a:off x="11071080" y="39344760"/>
            <a:ext cx="102607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sldNum" idx="8"/>
          </p:nvPr>
        </p:nvSpPr>
        <p:spPr>
          <a:xfrm>
            <a:off x="23223600" y="39344760"/>
            <a:ext cx="75589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720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3032162-1D08-4F51-9AA1-66A88CF0BE11}" type="slidenum">
              <a:rPr b="0" lang="en-US" sz="7200" spc="-1" strike="noStrike">
                <a:solidFill>
                  <a:schemeClr val="dk1"/>
                </a:solidFill>
                <a:latin typeface="Arial"/>
                <a:ea typeface="Arial"/>
              </a:rPr>
              <a:t>&lt;número&gt;</a:t>
            </a:fld>
            <a:endParaRPr b="0" lang="pt-BR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dt" idx="9"/>
          </p:nvPr>
        </p:nvSpPr>
        <p:spPr>
          <a:xfrm>
            <a:off x="1620720" y="39344760"/>
            <a:ext cx="75589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ftr" idx="10"/>
          </p:nvPr>
        </p:nvSpPr>
        <p:spPr>
          <a:xfrm>
            <a:off x="11071080" y="39344760"/>
            <a:ext cx="102607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sldNum" idx="11"/>
          </p:nvPr>
        </p:nvSpPr>
        <p:spPr>
          <a:xfrm>
            <a:off x="23223600" y="39344760"/>
            <a:ext cx="75589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720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1656D5C-2FDD-4A72-9D7E-680938C69E96}" type="slidenum">
              <a:rPr b="0" lang="en-US" sz="7200" spc="-1" strike="noStrike">
                <a:solidFill>
                  <a:schemeClr val="dk1"/>
                </a:solidFill>
                <a:latin typeface="Arial"/>
                <a:ea typeface="Arial"/>
              </a:rPr>
              <a:t>&lt;número&gt;</a:t>
            </a:fld>
            <a:endParaRPr b="0" lang="pt-BR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2"/>
          </p:nvPr>
        </p:nvSpPr>
        <p:spPr>
          <a:xfrm>
            <a:off x="1620720" y="39344760"/>
            <a:ext cx="75589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ftr" idx="13"/>
          </p:nvPr>
        </p:nvSpPr>
        <p:spPr>
          <a:xfrm>
            <a:off x="11071080" y="39344760"/>
            <a:ext cx="102607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14"/>
          </p:nvPr>
        </p:nvSpPr>
        <p:spPr>
          <a:xfrm>
            <a:off x="23223600" y="39344760"/>
            <a:ext cx="75589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720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F90ACDE-4158-414C-B4FF-61FE9EA8139D}" type="slidenum">
              <a:rPr b="0" lang="en-US" sz="7200" spc="-1" strike="noStrike">
                <a:solidFill>
                  <a:schemeClr val="dk1"/>
                </a:solidFill>
                <a:latin typeface="Arial"/>
                <a:ea typeface="Arial"/>
              </a:rPr>
              <a:t>&lt;número&gt;</a:t>
            </a:fld>
            <a:endParaRPr b="0" lang="pt-BR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5"/>
          </p:nvPr>
        </p:nvSpPr>
        <p:spPr>
          <a:xfrm>
            <a:off x="1620720" y="39344760"/>
            <a:ext cx="75589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ftr" idx="16"/>
          </p:nvPr>
        </p:nvSpPr>
        <p:spPr>
          <a:xfrm>
            <a:off x="11071080" y="39344760"/>
            <a:ext cx="102607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sldNum" idx="17"/>
          </p:nvPr>
        </p:nvSpPr>
        <p:spPr>
          <a:xfrm>
            <a:off x="23223600" y="39344760"/>
            <a:ext cx="75589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720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37D12EA-C334-4E9D-838E-DBED9CA8C63A}" type="slidenum">
              <a:rPr b="0" lang="en-US" sz="7200" spc="-1" strike="noStrike">
                <a:solidFill>
                  <a:schemeClr val="dk1"/>
                </a:solidFill>
                <a:latin typeface="Arial"/>
                <a:ea typeface="Arial"/>
              </a:rPr>
              <a:t>&lt;número&gt;</a:t>
            </a:fld>
            <a:endParaRPr b="0" lang="pt-BR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8"/>
          </p:nvPr>
        </p:nvSpPr>
        <p:spPr>
          <a:xfrm>
            <a:off x="1620720" y="39344760"/>
            <a:ext cx="75589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ftr" idx="19"/>
          </p:nvPr>
        </p:nvSpPr>
        <p:spPr>
          <a:xfrm>
            <a:off x="11071080" y="39344760"/>
            <a:ext cx="102607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sldNum" idx="20"/>
          </p:nvPr>
        </p:nvSpPr>
        <p:spPr>
          <a:xfrm>
            <a:off x="23223600" y="39344760"/>
            <a:ext cx="75589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720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492B243-E48A-41E4-BE61-833F7A3427F7}" type="slidenum">
              <a:rPr b="0" lang="en-US" sz="7200" spc="-1" strike="noStrike">
                <a:solidFill>
                  <a:schemeClr val="dk1"/>
                </a:solidFill>
                <a:latin typeface="Arial"/>
                <a:ea typeface="Arial"/>
              </a:rPr>
              <a:t>&lt;número&gt;</a:t>
            </a:fld>
            <a:endParaRPr b="0" lang="pt-BR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21"/>
          </p:nvPr>
        </p:nvSpPr>
        <p:spPr>
          <a:xfrm>
            <a:off x="1620720" y="39344760"/>
            <a:ext cx="75589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620000" y="1723680"/>
            <a:ext cx="29162520" cy="721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ftr" idx="22"/>
          </p:nvPr>
        </p:nvSpPr>
        <p:spPr>
          <a:xfrm>
            <a:off x="11071080" y="39344760"/>
            <a:ext cx="102607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sldNum" idx="23"/>
          </p:nvPr>
        </p:nvSpPr>
        <p:spPr>
          <a:xfrm>
            <a:off x="23223600" y="39344760"/>
            <a:ext cx="75589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720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BA9168E-1111-4E34-BCA0-032EB27906B4}" type="slidenum">
              <a:rPr b="0" lang="en-US" sz="7200" spc="-1" strike="noStrike">
                <a:solidFill>
                  <a:schemeClr val="dk1"/>
                </a:solidFill>
                <a:latin typeface="Arial"/>
                <a:ea typeface="Arial"/>
              </a:rPr>
              <a:t>&lt;número&gt;</a:t>
            </a:fld>
            <a:endParaRPr b="0" lang="pt-BR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24"/>
          </p:nvPr>
        </p:nvSpPr>
        <p:spPr>
          <a:xfrm>
            <a:off x="1620720" y="39344760"/>
            <a:ext cx="75589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ftr" idx="25"/>
          </p:nvPr>
        </p:nvSpPr>
        <p:spPr>
          <a:xfrm>
            <a:off x="11071080" y="39344760"/>
            <a:ext cx="102607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sldNum" idx="26"/>
          </p:nvPr>
        </p:nvSpPr>
        <p:spPr>
          <a:xfrm>
            <a:off x="23223600" y="39344760"/>
            <a:ext cx="75589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720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7F0C743-0917-457B-AF18-A3C02905EBBF}" type="slidenum">
              <a:rPr b="0" lang="en-US" sz="7200" spc="-1" strike="noStrike">
                <a:solidFill>
                  <a:schemeClr val="dk1"/>
                </a:solidFill>
                <a:latin typeface="Arial"/>
                <a:ea typeface="Arial"/>
              </a:rPr>
              <a:t>&lt;número&gt;</a:t>
            </a:fld>
            <a:endParaRPr b="0" lang="pt-BR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27"/>
          </p:nvPr>
        </p:nvSpPr>
        <p:spPr>
          <a:xfrm>
            <a:off x="1620720" y="39344760"/>
            <a:ext cx="75589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620000" y="1723680"/>
            <a:ext cx="29162520" cy="721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1620000" y="10109880"/>
            <a:ext cx="14230800" cy="2505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16563240" y="10109880"/>
            <a:ext cx="14230800" cy="2505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28"/>
          </p:nvPr>
        </p:nvSpPr>
        <p:spPr>
          <a:xfrm>
            <a:off x="11071080" y="39344760"/>
            <a:ext cx="102607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29"/>
          </p:nvPr>
        </p:nvSpPr>
        <p:spPr>
          <a:xfrm>
            <a:off x="23223600" y="39344760"/>
            <a:ext cx="75589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720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EE022CC-3E66-4F02-8261-6F1EA20C4758}" type="slidenum">
              <a:rPr b="0" lang="en-US" sz="7200" spc="-1" strike="noStrike">
                <a:solidFill>
                  <a:schemeClr val="dk1"/>
                </a:solidFill>
                <a:latin typeface="Arial"/>
                <a:ea typeface="Arial"/>
              </a:rPr>
              <a:t>&lt;número&gt;</a:t>
            </a:fld>
            <a:endParaRPr b="0" lang="pt-BR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dt" idx="30"/>
          </p:nvPr>
        </p:nvSpPr>
        <p:spPr>
          <a:xfrm>
            <a:off x="1620720" y="39344760"/>
            <a:ext cx="75589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ftr" idx="31"/>
          </p:nvPr>
        </p:nvSpPr>
        <p:spPr>
          <a:xfrm>
            <a:off x="11071080" y="39344760"/>
            <a:ext cx="102607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32"/>
          </p:nvPr>
        </p:nvSpPr>
        <p:spPr>
          <a:xfrm>
            <a:off x="23223600" y="39344760"/>
            <a:ext cx="75589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720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29F28CC-1155-46F9-B750-DCE2029E46F3}" type="slidenum">
              <a:rPr b="0" lang="en-US" sz="7200" spc="-1" strike="noStrike">
                <a:solidFill>
                  <a:schemeClr val="dk1"/>
                </a:solidFill>
                <a:latin typeface="Arial"/>
                <a:ea typeface="Arial"/>
              </a:rPr>
              <a:t>&lt;número&gt;</a:t>
            </a:fld>
            <a:endParaRPr b="0" lang="pt-BR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33"/>
          </p:nvPr>
        </p:nvSpPr>
        <p:spPr>
          <a:xfrm>
            <a:off x="1620720" y="39344760"/>
            <a:ext cx="7558920" cy="300132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slideLayout" Target="../slideLayouts/slideLayout1.xml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84;g37106c98961_0_150" descr=""/>
          <p:cNvPicPr/>
          <p:nvPr/>
        </p:nvPicPr>
        <p:blipFill>
          <a:blip r:embed="rId1"/>
          <a:stretch/>
        </p:blipFill>
        <p:spPr>
          <a:xfrm>
            <a:off x="0" y="0"/>
            <a:ext cx="32403240" cy="6156000"/>
          </a:xfrm>
          <a:prstGeom prst="rect">
            <a:avLst/>
          </a:prstGeom>
          <a:ln w="0">
            <a:noFill/>
          </a:ln>
        </p:spPr>
      </p:pic>
      <p:pic>
        <p:nvPicPr>
          <p:cNvPr id="52" name="Google Shape;89;g37106c98961_0_150" descr=""/>
          <p:cNvPicPr/>
          <p:nvPr/>
        </p:nvPicPr>
        <p:blipFill>
          <a:blip r:embed="rId2"/>
          <a:stretch/>
        </p:blipFill>
        <p:spPr>
          <a:xfrm flipH="1" rot="10800000">
            <a:off x="0" y="41009400"/>
            <a:ext cx="32403240" cy="259920"/>
          </a:xfrm>
          <a:prstGeom prst="rect">
            <a:avLst/>
          </a:prstGeom>
          <a:ln w="0">
            <a:noFill/>
          </a:ln>
        </p:spPr>
      </p:pic>
      <p:pic>
        <p:nvPicPr>
          <p:cNvPr id="54" name="Google Shape;94;g37106c98961_0_150" descr=""/>
          <p:cNvPicPr/>
          <p:nvPr/>
        </p:nvPicPr>
        <p:blipFill>
          <a:blip r:embed="rId3"/>
          <a:stretch/>
        </p:blipFill>
        <p:spPr>
          <a:xfrm>
            <a:off x="18810720" y="41726880"/>
            <a:ext cx="4966560" cy="821520"/>
          </a:xfrm>
          <a:prstGeom prst="rect">
            <a:avLst/>
          </a:prstGeom>
          <a:ln w="0">
            <a:noFill/>
          </a:ln>
        </p:spPr>
      </p:pic>
      <p:pic>
        <p:nvPicPr>
          <p:cNvPr id="55" name="Google Shape;95;g37106c98961_0_150" descr=""/>
          <p:cNvPicPr/>
          <p:nvPr/>
        </p:nvPicPr>
        <p:blipFill>
          <a:blip r:embed="rId4"/>
          <a:stretch/>
        </p:blipFill>
        <p:spPr>
          <a:xfrm>
            <a:off x="28841400" y="41639760"/>
            <a:ext cx="3234960" cy="996120"/>
          </a:xfrm>
          <a:prstGeom prst="rect">
            <a:avLst/>
          </a:prstGeom>
          <a:ln w="0">
            <a:noFill/>
          </a:ln>
        </p:spPr>
      </p:pic>
      <p:pic>
        <p:nvPicPr>
          <p:cNvPr id="56" name="Google Shape;96;g37106c98961_0_150" descr=""/>
          <p:cNvPicPr/>
          <p:nvPr/>
        </p:nvPicPr>
        <p:blipFill>
          <a:blip r:embed="rId5"/>
          <a:stretch/>
        </p:blipFill>
        <p:spPr>
          <a:xfrm>
            <a:off x="24327000" y="41592960"/>
            <a:ext cx="3964680" cy="1089720"/>
          </a:xfrm>
          <a:prstGeom prst="rect">
            <a:avLst/>
          </a:prstGeom>
          <a:ln w="0">
            <a:noFill/>
          </a:ln>
        </p:spPr>
      </p:pic>
      <p:pic>
        <p:nvPicPr>
          <p:cNvPr id="83" name="Picture 122" descr="qr_github.png"/>
          <p:cNvPicPr/>
          <p:nvPr/>
        </p:nvPicPr>
        <p:blipFill>
          <a:blip r:embed="rId10"/>
          <a:stretch/>
        </p:blipFill>
        <p:spPr>
          <a:xfrm>
            <a:off x="29556000" y="38448000"/>
            <a:ext cx="1800000" cy="1800000"/>
          </a:xfrm>
          <a:prstGeom prst="rect">
            <a:avLst/>
          </a:prstGeom>
          <a:ln w="0">
            <a:noFill/>
          </a:ln>
        </p:spPr>
      </p:pic>
      <p:sp>
        <p:nvSpPr>
          <p:cNvPr id="84" name="TextBox 83"/>
          <p:cNvSpPr txBox="1"/>
          <p:nvPr/>
        </p:nvSpPr>
        <p:spPr>
          <a:xfrm>
            <a:off x="936000" y="6263999"/>
            <a:ext cx="30528000" cy="22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4000"/>
              </a:lnSpc>
            </a:pPr>
            <a:r>
              <a:rPr sz="7200" b="1">
                <a:solidFill>
                  <a:srgbClr val="1F3B57"/>
                </a:solidFill>
                <a:latin typeface="Arial"/>
              </a:rPr>
              <a:t>IDENTIFICAÇÃO COMPUTACIONAL INTELIGENTE</a:t>
            </a:r>
          </a:p>
          <a:p>
            <a:pPr algn="ctr">
              <a:lnSpc>
                <a:spcPct val="94000"/>
              </a:lnSpc>
            </a:pPr>
            <a:r>
              <a:rPr sz="7200" b="1">
                <a:solidFill>
                  <a:srgbClr val="1F3B57"/>
                </a:solidFill>
                <a:latin typeface="Arial"/>
              </a:rPr>
              <a:t>DE DISFUNÇÕES NO TRATO VOCAL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36000" y="8604000"/>
            <a:ext cx="305280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3300" b="1">
                <a:solidFill>
                  <a:srgbClr val="1E1E1E"/>
                </a:solidFill>
                <a:latin typeface="Arial"/>
              </a:rPr>
              <a:t>Ronaldo Chiavegatti Sampaio Corrêa</a:t>
            </a:r>
            <a:r>
              <a:rPr sz="3300" b="0">
                <a:solidFill>
                  <a:srgbClr val="777777"/>
                </a:solidFill>
                <a:latin typeface="Arial"/>
              </a:rPr>
              <a:t>     |     </a:t>
            </a:r>
            <a:r>
              <a:rPr sz="3300" b="0">
                <a:solidFill>
                  <a:srgbClr val="1E1E1E"/>
                </a:solidFill>
                <a:latin typeface="Arial"/>
              </a:rPr>
              <a:t>Rodrigo Capobianco Guido</a:t>
            </a:r>
            <a:r>
              <a:rPr sz="2800" b="0">
                <a:solidFill>
                  <a:srgbClr val="777777"/>
                </a:solidFill>
                <a:latin typeface="Arial"/>
              </a:rPr>
              <a:t>  (Orientador)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36000" y="9252000"/>
            <a:ext cx="30528000" cy="503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2500" b="0">
                <a:solidFill>
                  <a:srgbClr val="4E4E4E"/>
                </a:solidFill>
                <a:latin typeface="Arial"/>
              </a:rPr>
              <a:t>Instituto de Biociências, Letras e Ciências Exatas — IBILCE/Unesp · Câmpus de São José do Rio Preto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640000" y="9864000"/>
            <a:ext cx="15120000" cy="684000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 w="15240">
            <a:solidFill>
              <a:srgbClr val="D8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lnSpc>
                <a:spcPct val="92000"/>
              </a:lnSpc>
            </a:pPr>
            <a:r>
              <a:rPr sz="2000" b="0">
                <a:solidFill>
                  <a:srgbClr val="4E4E4E"/>
                </a:solidFill>
                <a:latin typeface="Arial"/>
              </a:rPr>
              <a:t>Iniciação Científica Voluntária — PIBIC/Unesp, sem bolsa     ·     </a:t>
            </a:r>
            <a:r>
              <a:rPr sz="2000" b="1">
                <a:solidFill>
                  <a:srgbClr val="1E1E1E"/>
                </a:solidFill>
                <a:latin typeface="Arial"/>
              </a:rPr>
              <a:t>pipeline em C99, sem frameworks de ML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36000" y="10926000"/>
            <a:ext cx="180000" cy="6480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14000" y="10872000"/>
            <a:ext cx="14454000" cy="79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000" b="1">
                <a:solidFill>
                  <a:srgbClr val="1F3B57"/>
                </a:solidFill>
                <a:latin typeface="Arial"/>
              </a:rPr>
              <a:t>O PROBLEMA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6632000" y="10926000"/>
            <a:ext cx="180000" cy="648000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7010000" y="10872000"/>
            <a:ext cx="14454000" cy="79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000" b="1">
                <a:solidFill>
                  <a:srgbClr val="1F3B57"/>
                </a:solidFill>
                <a:latin typeface="Arial"/>
              </a:rPr>
              <a:t>OBJETIVOS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36000" y="11844000"/>
            <a:ext cx="6336000" cy="1872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032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lnSpc>
                <a:spcPct val="92000"/>
              </a:lnSpc>
            </a:pPr>
            <a:r>
              <a:rPr sz="1800" b="0">
                <a:solidFill>
                  <a:srgbClr val="777777"/>
                </a:solidFill>
                <a:latin typeface="Arial"/>
              </a:rPr>
              <a:t>hoje</a:t>
            </a:r>
          </a:p>
          <a:p>
            <a:pPr algn="ctr">
              <a:lnSpc>
                <a:spcPct val="92000"/>
              </a:lnSpc>
            </a:pPr>
            <a:r>
              <a:rPr sz="2100" b="0">
                <a:solidFill>
                  <a:srgbClr val="1E1E1E"/>
                </a:solidFill>
                <a:latin typeface="Arial"/>
              </a:rPr>
              <a:t>diagnóstico diferencial exige</a:t>
            </a:r>
          </a:p>
          <a:p>
            <a:pPr algn="ctr">
              <a:lnSpc>
                <a:spcPct val="92000"/>
              </a:lnSpc>
            </a:pPr>
            <a:r>
              <a:rPr sz="2700" b="1">
                <a:solidFill>
                  <a:srgbClr val="2A78D6"/>
                </a:solidFill>
                <a:latin typeface="Arial"/>
              </a:rPr>
              <a:t>exame invasivo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7416000" y="12564000"/>
            <a:ext cx="792000" cy="468000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9AA3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8352000" y="11844000"/>
            <a:ext cx="7416000" cy="1872000"/>
          </a:xfrm>
          <a:prstGeom prst="roundRect">
            <a:avLst>
              <a:gd name="adj" fmla="val 16000"/>
            </a:avLst>
          </a:prstGeom>
          <a:solidFill>
            <a:srgbClr val="E8F1FC"/>
          </a:solidFill>
          <a:ln w="2032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lnSpc>
                <a:spcPct val="92000"/>
              </a:lnSpc>
            </a:pPr>
            <a:r>
              <a:rPr sz="1800" b="0">
                <a:solidFill>
                  <a:srgbClr val="777777"/>
                </a:solidFill>
                <a:latin typeface="Arial"/>
              </a:rPr>
              <a:t>proposta</a:t>
            </a:r>
          </a:p>
          <a:p>
            <a:pPr algn="ctr">
              <a:lnSpc>
                <a:spcPct val="92000"/>
              </a:lnSpc>
            </a:pPr>
            <a:r>
              <a:rPr sz="2100" b="0">
                <a:solidFill>
                  <a:srgbClr val="1E1E1E"/>
                </a:solidFill>
                <a:latin typeface="Arial"/>
              </a:rPr>
              <a:t>triagem </a:t>
            </a:r>
            <a:r>
              <a:rPr sz="2700" b="1">
                <a:solidFill>
                  <a:srgbClr val="2A78D6"/>
                </a:solidFill>
                <a:latin typeface="Arial"/>
              </a:rPr>
              <a:t>não invasiva</a:t>
            </a:r>
          </a:p>
          <a:p>
            <a:pPr algn="ctr">
              <a:lnSpc>
                <a:spcPct val="92000"/>
              </a:lnSpc>
            </a:pPr>
            <a:r>
              <a:rPr sz="2100" b="0">
                <a:solidFill>
                  <a:srgbClr val="1E1E1E"/>
                </a:solidFill>
                <a:latin typeface="Arial"/>
              </a:rPr>
              <a:t>e de baixo custo, só pela voz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6632000" y="11844000"/>
            <a:ext cx="4704000" cy="1872000"/>
          </a:xfrm>
          <a:prstGeom prst="roundRect">
            <a:avLst>
              <a:gd name="adj" fmla="val 16000"/>
            </a:avLst>
          </a:prstGeom>
          <a:solidFill>
            <a:srgbClr val="FDF0E9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lnSpc>
                <a:spcPct val="90000"/>
              </a:lnSpc>
            </a:pPr>
            <a:r>
              <a:rPr sz="4000" b="1">
                <a:solidFill>
                  <a:srgbClr val="EB6834"/>
                </a:solidFill>
                <a:latin typeface="Arial"/>
              </a:rPr>
              <a:t>5</a:t>
            </a:r>
          </a:p>
          <a:p>
            <a:pPr algn="ctr">
              <a:lnSpc>
                <a:spcPct val="90000"/>
              </a:lnSpc>
            </a:pPr>
            <a:r>
              <a:rPr sz="1900" b="0">
                <a:solidFill>
                  <a:srgbClr val="1E1E1E"/>
                </a:solidFill>
                <a:latin typeface="Arial"/>
              </a:rPr>
              <a:t>condições vocais</a:t>
            </a:r>
          </a:p>
          <a:p>
            <a:pPr algn="ctr">
              <a:lnSpc>
                <a:spcPct val="90000"/>
              </a:lnSpc>
            </a:pPr>
            <a:r>
              <a:rPr sz="1900" b="0">
                <a:solidFill>
                  <a:srgbClr val="1E1E1E"/>
                </a:solidFill>
                <a:latin typeface="Arial"/>
              </a:rPr>
              <a:t>distinguidas pela voz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1696000" y="11844000"/>
            <a:ext cx="4704000" cy="1872000"/>
          </a:xfrm>
          <a:prstGeom prst="roundRect">
            <a:avLst>
              <a:gd name="adj" fmla="val 16000"/>
            </a:avLst>
          </a:prstGeom>
          <a:solidFill>
            <a:srgbClr val="FDF0E9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lnSpc>
                <a:spcPct val="90000"/>
              </a:lnSpc>
            </a:pPr>
            <a:r>
              <a:rPr sz="4000" b="1">
                <a:solidFill>
                  <a:srgbClr val="EB6834"/>
                </a:solidFill>
                <a:latin typeface="Arial"/>
              </a:rPr>
              <a:t>6</a:t>
            </a:r>
          </a:p>
          <a:p>
            <a:pPr algn="ctr">
              <a:lnSpc>
                <a:spcPct val="90000"/>
              </a:lnSpc>
            </a:pPr>
            <a:r>
              <a:rPr sz="1900" b="0">
                <a:solidFill>
                  <a:srgbClr val="1E1E1E"/>
                </a:solidFill>
                <a:latin typeface="Arial"/>
              </a:rPr>
              <a:t>redes por dobra: 2 por</a:t>
            </a:r>
          </a:p>
          <a:p>
            <a:pPr algn="ctr">
              <a:lnSpc>
                <a:spcPct val="90000"/>
              </a:lnSpc>
            </a:pPr>
            <a:r>
              <a:rPr sz="1900" b="0">
                <a:solidFill>
                  <a:srgbClr val="1E1E1E"/>
                </a:solidFill>
                <a:latin typeface="Arial"/>
              </a:rPr>
              <a:t>vogal, fundidas ao final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6760000" y="11844000"/>
            <a:ext cx="4704000" cy="1872000"/>
          </a:xfrm>
          <a:prstGeom prst="roundRect">
            <a:avLst>
              <a:gd name="adj" fmla="val 16000"/>
            </a:avLst>
          </a:prstGeom>
          <a:solidFill>
            <a:srgbClr val="FDF0E9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lnSpc>
                <a:spcPct val="90000"/>
              </a:lnSpc>
            </a:pPr>
            <a:r>
              <a:rPr sz="4000" b="1">
                <a:solidFill>
                  <a:srgbClr val="EB6834"/>
                </a:solidFill>
                <a:latin typeface="Arial"/>
              </a:rPr>
              <a:t>3</a:t>
            </a:r>
          </a:p>
          <a:p>
            <a:pPr algn="ctr">
              <a:lnSpc>
                <a:spcPct val="90000"/>
              </a:lnSpc>
            </a:pPr>
            <a:r>
              <a:rPr sz="1900" b="0">
                <a:solidFill>
                  <a:srgbClr val="1E1E1E"/>
                </a:solidFill>
                <a:latin typeface="Arial"/>
              </a:rPr>
              <a:t>lacunas metodológicas</a:t>
            </a:r>
          </a:p>
          <a:p>
            <a:pPr algn="ctr">
              <a:lnSpc>
                <a:spcPct val="90000"/>
              </a:lnSpc>
            </a:pPr>
            <a:r>
              <a:rPr sz="1900" b="0">
                <a:solidFill>
                  <a:srgbClr val="1E1E1E"/>
                </a:solidFill>
                <a:latin typeface="Arial"/>
              </a:rPr>
              <a:t>fechadas com A/B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36000" y="14057999"/>
            <a:ext cx="180000" cy="648000"/>
          </a:xfrm>
          <a:prstGeom prst="roundRect">
            <a:avLst>
              <a:gd name="adj" fmla="val 50000"/>
            </a:avLst>
          </a:prstGeom>
          <a:solidFill>
            <a:srgbClr val="17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314000" y="14004000"/>
            <a:ext cx="30150000" cy="79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000" b="1">
                <a:solidFill>
                  <a:srgbClr val="1F3B57"/>
                </a:solidFill>
                <a:latin typeface="Arial"/>
              </a:rPr>
              <a:t>MATERIAL E MÉTODOS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14000" y="14741999"/>
            <a:ext cx="301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2300" b="0">
                <a:solidFill>
                  <a:srgbClr val="777777"/>
                </a:solidFill>
                <a:latin typeface="Arial"/>
              </a:rPr>
              <a:t>validação cruzada estratificada de 5 dobras · seed fixa (42) · z-score e balanceamento ajustados dentro de cada dobra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36000" y="15300000"/>
            <a:ext cx="4824000" cy="6480000"/>
          </a:xfrm>
          <a:prstGeom prst="roundRect">
            <a:avLst>
              <a:gd name="adj" fmla="val 16000"/>
            </a:avLst>
          </a:prstGeom>
          <a:solidFill>
            <a:srgbClr val="E8F1FC"/>
          </a:solidFill>
          <a:ln w="254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36000" y="15516000"/>
            <a:ext cx="4824000" cy="57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2900" b="1">
                <a:solidFill>
                  <a:srgbClr val="2A78D6"/>
                </a:solidFill>
                <a:latin typeface="Arial"/>
              </a:rPr>
              <a:t>SINAL DE VOZ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36000" y="16056000"/>
            <a:ext cx="4824000" cy="4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1800" b="0">
                <a:solidFill>
                  <a:srgbClr val="4E4E4E"/>
                </a:solidFill>
                <a:latin typeface="Arial"/>
              </a:rPr>
              <a:t>Saarbrücken Voice Database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440000" y="16560000"/>
            <a:ext cx="3816000" cy="86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lnSpc>
                <a:spcPct val="92000"/>
              </a:lnSpc>
            </a:pPr>
            <a:r>
              <a:rPr sz="4000" b="1">
                <a:solidFill>
                  <a:srgbClr val="2A78D6"/>
                </a:solidFill>
                <a:latin typeface="Arial"/>
              </a:rPr>
              <a:t>∿∿∿∿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36000" y="17604000"/>
            <a:ext cx="4824000" cy="115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4400" b="1">
                <a:solidFill>
                  <a:srgbClr val="1E1E1E"/>
                </a:solidFill>
                <a:latin typeface="Arial"/>
              </a:rPr>
              <a:t>1.098</a:t>
            </a:r>
          </a:p>
          <a:p>
            <a:pPr algn="ctr">
              <a:lnSpc>
                <a:spcPct val="92000"/>
              </a:lnSpc>
            </a:pPr>
            <a:r>
              <a:rPr sz="2100" b="0">
                <a:solidFill>
                  <a:srgbClr val="4E4E4E"/>
                </a:solidFill>
                <a:latin typeface="Arial"/>
              </a:rPr>
              <a:t>pacientes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36000" y="18828000"/>
            <a:ext cx="4824000" cy="1007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1900" b="0">
                <a:solidFill>
                  <a:srgbClr val="4E4E4E"/>
                </a:solidFill>
                <a:latin typeface="Arial"/>
              </a:rPr>
              <a:t>vogais sustentadas</a:t>
            </a:r>
          </a:p>
          <a:p>
            <a:pPr algn="ctr">
              <a:lnSpc>
                <a:spcPct val="92000"/>
              </a:lnSpc>
            </a:pPr>
            <a:r>
              <a:rPr sz="2900" b="1">
                <a:solidFill>
                  <a:srgbClr val="2A78D6"/>
                </a:solidFill>
                <a:latin typeface="Arial"/>
              </a:rPr>
              <a:t>/a/    /i/    /u/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368000" y="19944000"/>
            <a:ext cx="3960000" cy="154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C9D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368000" y="19980000"/>
            <a:ext cx="3960000" cy="1475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2000" b="1">
                <a:solidFill>
                  <a:srgbClr val="1E1E1E"/>
                </a:solidFill>
                <a:latin typeface="Arial"/>
              </a:rPr>
              <a:t>5 classes clínicas</a:t>
            </a:r>
          </a:p>
          <a:p>
            <a:pPr algn="ctr">
              <a:lnSpc>
                <a:spcPct val="90000"/>
              </a:lnSpc>
            </a:pPr>
            <a:r>
              <a:rPr sz="1900" b="0">
                <a:solidFill>
                  <a:srgbClr val="4E4E4E"/>
                </a:solidFill>
                <a:latin typeface="Arial"/>
              </a:rPr>
              <a:t>687 · 140 · 91 · 112 · 68</a:t>
            </a:r>
          </a:p>
          <a:p>
            <a:pPr algn="ctr">
              <a:lnSpc>
                <a:spcPct val="90000"/>
              </a:lnSpc>
            </a:pPr>
            <a:r>
              <a:rPr sz="1700" b="0">
                <a:solidFill>
                  <a:srgbClr val="777777"/>
                </a:solidFill>
                <a:latin typeface="Arial"/>
              </a:rPr>
              <a:t>fortemente desbalanceada</a:t>
            </a:r>
          </a:p>
        </p:txBody>
      </p:sp>
      <p:sp>
        <p:nvSpPr>
          <p:cNvPr id="109" name="Right Arrow 108"/>
          <p:cNvSpPr/>
          <p:nvPr/>
        </p:nvSpPr>
        <p:spPr>
          <a:xfrm>
            <a:off x="5940000" y="18252000"/>
            <a:ext cx="432000" cy="576000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9AA3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6552000" y="15300000"/>
            <a:ext cx="5616000" cy="6480000"/>
          </a:xfrm>
          <a:prstGeom prst="roundRect">
            <a:avLst>
              <a:gd name="adj" fmla="val 16000"/>
            </a:avLst>
          </a:prstGeom>
          <a:solidFill>
            <a:srgbClr val="FDF0E9"/>
          </a:solidFill>
          <a:ln w="2540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552000" y="15516000"/>
            <a:ext cx="5616000" cy="9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2900" b="1">
                <a:solidFill>
                  <a:srgbClr val="EB6834"/>
                </a:solidFill>
                <a:latin typeface="Arial"/>
              </a:rPr>
              <a:t>CARACTERÍSTICAS</a:t>
            </a:r>
          </a:p>
          <a:p>
            <a:pPr algn="ctr">
              <a:lnSpc>
                <a:spcPct val="92000"/>
              </a:lnSpc>
            </a:pPr>
            <a:r>
              <a:rPr sz="1900" b="0">
                <a:solidFill>
                  <a:srgbClr val="4E4E4E"/>
                </a:solidFill>
                <a:latin typeface="Arial"/>
              </a:rPr>
              <a:t>83 por vogal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804000" y="16560000"/>
            <a:ext cx="5112000" cy="140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F3D3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28800" bIns="28800"/>
          <a:lstStyle/>
          <a:p>
            <a:pPr algn="ctr">
              <a:lnSpc>
                <a:spcPct val="88000"/>
              </a:lnSpc>
            </a:pPr>
            <a:r>
              <a:rPr sz="2200" b="1">
                <a:solidFill>
                  <a:srgbClr val="1E1E1E"/>
                </a:solidFill>
                <a:latin typeface="Arial"/>
              </a:rPr>
              <a:t>Temporais   </a:t>
            </a:r>
            <a:r>
              <a:rPr sz="2900" b="1">
                <a:solidFill>
                  <a:srgbClr val="EB6834"/>
                </a:solidFill>
                <a:latin typeface="Arial"/>
              </a:rPr>
              <a:t>10</a:t>
            </a:r>
          </a:p>
          <a:p>
            <a:pPr algn="ctr">
              <a:lnSpc>
                <a:spcPct val="88000"/>
              </a:lnSpc>
            </a:pPr>
            <a:r>
              <a:rPr sz="1650" b="0">
                <a:solidFill>
                  <a:srgbClr val="4E4E4E"/>
                </a:solidFill>
                <a:latin typeface="Arial"/>
              </a:rPr>
              <a:t>jitter · shimmer · HNR · ZCR</a:t>
            </a:r>
          </a:p>
          <a:p>
            <a:pPr algn="ctr">
              <a:lnSpc>
                <a:spcPct val="88000"/>
              </a:lnSpc>
            </a:pPr>
            <a:r>
              <a:rPr sz="1600" b="0">
                <a:solidFill>
                  <a:srgbClr val="777777"/>
                </a:solidFill>
                <a:latin typeface="Arial"/>
              </a:rPr>
              <a:t>irregularidade da fonação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804000" y="18064800"/>
            <a:ext cx="5112000" cy="140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F3D3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28800" bIns="28800"/>
          <a:lstStyle/>
          <a:p>
            <a:pPr algn="ctr">
              <a:lnSpc>
                <a:spcPct val="88000"/>
              </a:lnSpc>
            </a:pPr>
            <a:r>
              <a:rPr sz="2200" b="1">
                <a:solidFill>
                  <a:srgbClr val="1E1E1E"/>
                </a:solidFill>
                <a:latin typeface="Arial"/>
              </a:rPr>
              <a:t>Espectrais   </a:t>
            </a:r>
            <a:r>
              <a:rPr sz="2900" b="1">
                <a:solidFill>
                  <a:srgbClr val="EB6834"/>
                </a:solidFill>
                <a:latin typeface="Arial"/>
              </a:rPr>
              <a:t>55</a:t>
            </a:r>
          </a:p>
          <a:p>
            <a:pPr algn="ctr">
              <a:lnSpc>
                <a:spcPct val="88000"/>
              </a:lnSpc>
            </a:pPr>
            <a:r>
              <a:rPr sz="1650" b="0">
                <a:solidFill>
                  <a:srgbClr val="4E4E4E"/>
                </a:solidFill>
                <a:latin typeface="Arial"/>
              </a:rPr>
              <a:t>F0 · formantes · MFCC+Δ+ΔΔ · CPP · pulso glotal</a:t>
            </a:r>
          </a:p>
          <a:p>
            <a:pPr algn="ctr">
              <a:lnSpc>
                <a:spcPct val="88000"/>
              </a:lnSpc>
            </a:pPr>
            <a:r>
              <a:rPr sz="1600" b="0">
                <a:solidFill>
                  <a:srgbClr val="777777"/>
                </a:solidFill>
                <a:latin typeface="Arial"/>
              </a:rPr>
              <a:t>timbre e qualidade vocal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804000" y="19569600"/>
            <a:ext cx="5112000" cy="140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F3D3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28800" bIns="28800"/>
          <a:lstStyle/>
          <a:p>
            <a:pPr algn="ctr">
              <a:lnSpc>
                <a:spcPct val="88000"/>
              </a:lnSpc>
            </a:pPr>
            <a:r>
              <a:rPr sz="2200" b="1">
                <a:solidFill>
                  <a:srgbClr val="1E1E1E"/>
                </a:solidFill>
                <a:latin typeface="Arial"/>
              </a:rPr>
              <a:t>Wavelet   </a:t>
            </a:r>
            <a:r>
              <a:rPr sz="2900" b="1">
                <a:solidFill>
                  <a:srgbClr val="EB6834"/>
                </a:solidFill>
                <a:latin typeface="Arial"/>
              </a:rPr>
              <a:t>18</a:t>
            </a:r>
          </a:p>
          <a:p>
            <a:pPr algn="ctr">
              <a:lnSpc>
                <a:spcPct val="88000"/>
              </a:lnSpc>
            </a:pPr>
            <a:r>
              <a:rPr sz="1650" b="0">
                <a:solidFill>
                  <a:srgbClr val="4E4E4E"/>
                </a:solidFill>
                <a:latin typeface="Arial"/>
              </a:rPr>
              <a:t>Daubechies-4 · 6 níveis</a:t>
            </a:r>
          </a:p>
          <a:p>
            <a:pPr algn="ctr">
              <a:lnSpc>
                <a:spcPct val="88000"/>
              </a:lnSpc>
            </a:pPr>
            <a:r>
              <a:rPr sz="1600" b="0">
                <a:solidFill>
                  <a:srgbClr val="777777"/>
                </a:solidFill>
                <a:latin typeface="Arial"/>
              </a:rPr>
              <a:t>padrões multiescala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552000" y="21092400"/>
            <a:ext cx="5616000" cy="66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800" b="0">
                <a:solidFill>
                  <a:srgbClr val="777777"/>
                </a:solidFill>
                <a:latin typeface="Arial"/>
              </a:rPr>
              <a:t>+ idade e sexo do paciente</a:t>
            </a:r>
          </a:p>
          <a:p>
            <a:pPr algn="ctr">
              <a:lnSpc>
                <a:spcPct val="95000"/>
              </a:lnSpc>
            </a:pPr>
            <a:r>
              <a:rPr sz="3000" b="1">
                <a:solidFill>
                  <a:srgbClr val="1E1E1E"/>
                </a:solidFill>
                <a:latin typeface="Arial"/>
              </a:rPr>
              <a:t>251 variáveis</a:t>
            </a:r>
          </a:p>
        </p:txBody>
      </p:sp>
      <p:sp>
        <p:nvSpPr>
          <p:cNvPr id="116" name="Right Arrow 115"/>
          <p:cNvSpPr/>
          <p:nvPr/>
        </p:nvSpPr>
        <p:spPr>
          <a:xfrm>
            <a:off x="12348000" y="18252000"/>
            <a:ext cx="432000" cy="576000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9AA3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12960000" y="15300000"/>
            <a:ext cx="8856000" cy="6480000"/>
          </a:xfrm>
          <a:prstGeom prst="roundRect">
            <a:avLst>
              <a:gd name="adj" fmla="val 16000"/>
            </a:avLst>
          </a:prstGeom>
          <a:solidFill>
            <a:srgbClr val="E9F9F2"/>
          </a:solidFill>
          <a:ln w="25400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2960000" y="15516000"/>
            <a:ext cx="8856000" cy="9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2900" b="1">
                <a:solidFill>
                  <a:srgbClr val="179669"/>
                </a:solidFill>
                <a:latin typeface="Arial"/>
              </a:rPr>
              <a:t>DUAS REDES POR VOGAL</a:t>
            </a:r>
          </a:p>
          <a:p>
            <a:pPr algn="ctr">
              <a:lnSpc>
                <a:spcPct val="92000"/>
              </a:lnSpc>
            </a:pPr>
            <a:r>
              <a:rPr sz="1900" b="0">
                <a:solidFill>
                  <a:srgbClr val="4E4E4E"/>
                </a:solidFill>
                <a:latin typeface="Arial"/>
              </a:rPr>
              <a:t>×3 vogais · pesos independentes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13284000" y="16487999"/>
            <a:ext cx="3960000" cy="428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C6E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3284000" y="16560000"/>
            <a:ext cx="3960000" cy="827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2400" b="1">
                <a:solidFill>
                  <a:srgbClr val="179669"/>
                </a:solidFill>
                <a:latin typeface="Arial"/>
              </a:rPr>
              <a:t>MESTRA</a:t>
            </a:r>
          </a:p>
          <a:p>
            <a:pPr algn="ctr">
              <a:lnSpc>
                <a:spcPct val="90000"/>
              </a:lnSpc>
            </a:pPr>
            <a:r>
              <a:rPr sz="1700" b="0">
                <a:solidFill>
                  <a:srgbClr val="4E4E4E"/>
                </a:solidFill>
                <a:latin typeface="Arial"/>
              </a:rPr>
              <a:t>patológico × saudável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13644000" y="17460000"/>
            <a:ext cx="3240000" cy="54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5240">
            <a:solidFill>
              <a:srgbClr val="C6E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7200" bIns="7200"/>
          <a:lstStyle/>
          <a:p>
            <a:pPr algn="ctr">
              <a:lnSpc>
                <a:spcPct val="92000"/>
              </a:lnSpc>
            </a:pPr>
            <a:r>
              <a:rPr sz="1700" b="1">
                <a:solidFill>
                  <a:srgbClr val="4E4E4E"/>
                </a:solidFill>
                <a:latin typeface="Arial"/>
              </a:rPr>
              <a:t>85 características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3644000" y="17899200"/>
            <a:ext cx="3240000" cy="30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1600" b="1">
                <a:solidFill>
                  <a:srgbClr val="777777"/>
                </a:solidFill>
                <a:latin typeface="Arial"/>
              </a:rPr>
              <a:t>↓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3644000" y="18205200"/>
            <a:ext cx="3240000" cy="540000"/>
          </a:xfrm>
          <a:prstGeom prst="roundRect">
            <a:avLst>
              <a:gd name="adj" fmla="val 24000"/>
            </a:avLst>
          </a:prstGeom>
          <a:solidFill>
            <a:srgbClr val="1BAF7A"/>
          </a:solidFill>
          <a:ln w="15240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7200" bIns="7200"/>
          <a:lstStyle/>
          <a:p>
            <a:pPr algn="ctr">
              <a:lnSpc>
                <a:spcPct val="92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Dense 128 + LeakyReLU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3644000" y="18644400"/>
            <a:ext cx="3240000" cy="30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1600" b="1">
                <a:solidFill>
                  <a:srgbClr val="777777"/>
                </a:solidFill>
                <a:latin typeface="Arial"/>
              </a:rPr>
              <a:t>↓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13644000" y="18950400"/>
            <a:ext cx="3240000" cy="540000"/>
          </a:xfrm>
          <a:prstGeom prst="roundRect">
            <a:avLst>
              <a:gd name="adj" fmla="val 24000"/>
            </a:avLst>
          </a:prstGeom>
          <a:solidFill>
            <a:srgbClr val="1BAF7A"/>
          </a:solidFill>
          <a:ln w="15240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7200" bIns="7200"/>
          <a:lstStyle/>
          <a:p>
            <a:pPr algn="ctr">
              <a:lnSpc>
                <a:spcPct val="92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Dense 64 + LeakyReLU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3644000" y="19389600"/>
            <a:ext cx="3240000" cy="30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1600" b="1">
                <a:solidFill>
                  <a:srgbClr val="777777"/>
                </a:solidFill>
                <a:latin typeface="Arial"/>
              </a:rPr>
              <a:t>↓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13644000" y="19695600"/>
            <a:ext cx="3240000" cy="540000"/>
          </a:xfrm>
          <a:prstGeom prst="roundRect">
            <a:avLst>
              <a:gd name="adj" fmla="val 24000"/>
            </a:avLst>
          </a:prstGeom>
          <a:solidFill>
            <a:srgbClr val="E8F1FC"/>
          </a:solidFill>
          <a:ln w="1524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7200" bIns="7200"/>
          <a:lstStyle/>
          <a:p>
            <a:pPr algn="ctr">
              <a:lnSpc>
                <a:spcPct val="92000"/>
              </a:lnSpc>
            </a:pPr>
            <a:r>
              <a:rPr sz="1700" b="1">
                <a:solidFill>
                  <a:srgbClr val="2A78D6"/>
                </a:solidFill>
                <a:latin typeface="Arial"/>
              </a:rPr>
              <a:t>normal | patológico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3284000" y="20304000"/>
            <a:ext cx="3960000" cy="4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1650" b="0">
                <a:solidFill>
                  <a:srgbClr val="777777"/>
                </a:solidFill>
                <a:latin typeface="Arial"/>
              </a:rPr>
              <a:t>dropout 0,5 / 0,4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7532000" y="16487999"/>
            <a:ext cx="3960000" cy="428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C6E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7532000" y="16560000"/>
            <a:ext cx="3960000" cy="827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2400" b="1">
                <a:solidFill>
                  <a:srgbClr val="179669"/>
                </a:solidFill>
                <a:latin typeface="Arial"/>
              </a:rPr>
              <a:t>ESPECIALISTA</a:t>
            </a:r>
          </a:p>
          <a:p>
            <a:pPr algn="ctr">
              <a:lnSpc>
                <a:spcPct val="90000"/>
              </a:lnSpc>
            </a:pPr>
            <a:r>
              <a:rPr sz="1700" b="0">
                <a:solidFill>
                  <a:srgbClr val="4E4E4E"/>
                </a:solidFill>
                <a:latin typeface="Arial"/>
              </a:rPr>
              <a:t>qual patologia?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17892000" y="17460000"/>
            <a:ext cx="3240000" cy="54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5240">
            <a:solidFill>
              <a:srgbClr val="C6E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7200" bIns="7200"/>
          <a:lstStyle/>
          <a:p>
            <a:pPr algn="ctr">
              <a:lnSpc>
                <a:spcPct val="92000"/>
              </a:lnSpc>
            </a:pPr>
            <a:r>
              <a:rPr sz="1700" b="1">
                <a:solidFill>
                  <a:srgbClr val="4E4E4E"/>
                </a:solidFill>
                <a:latin typeface="Arial"/>
              </a:rPr>
              <a:t>85 características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7892000" y="17899200"/>
            <a:ext cx="3240000" cy="30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1600" b="1">
                <a:solidFill>
                  <a:srgbClr val="777777"/>
                </a:solidFill>
                <a:latin typeface="Arial"/>
              </a:rPr>
              <a:t>↓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7892000" y="18205200"/>
            <a:ext cx="3240000" cy="540000"/>
          </a:xfrm>
          <a:prstGeom prst="roundRect">
            <a:avLst>
              <a:gd name="adj" fmla="val 24000"/>
            </a:avLst>
          </a:prstGeom>
          <a:solidFill>
            <a:srgbClr val="1BAF7A"/>
          </a:solidFill>
          <a:ln w="15240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7200" bIns="7200"/>
          <a:lstStyle/>
          <a:p>
            <a:pPr algn="ctr">
              <a:lnSpc>
                <a:spcPct val="92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Dense 128 + LeakyReLU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7892000" y="18644400"/>
            <a:ext cx="3240000" cy="30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1600" b="1">
                <a:solidFill>
                  <a:srgbClr val="777777"/>
                </a:solidFill>
                <a:latin typeface="Arial"/>
              </a:rPr>
              <a:t>↓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17892000" y="18950400"/>
            <a:ext cx="3240000" cy="540000"/>
          </a:xfrm>
          <a:prstGeom prst="roundRect">
            <a:avLst>
              <a:gd name="adj" fmla="val 24000"/>
            </a:avLst>
          </a:prstGeom>
          <a:solidFill>
            <a:srgbClr val="1BAF7A"/>
          </a:solidFill>
          <a:ln w="15240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7200" bIns="7200"/>
          <a:lstStyle/>
          <a:p>
            <a:pPr algn="ctr">
              <a:lnSpc>
                <a:spcPct val="92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Dense 64 + LeakyReLU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7892000" y="19389600"/>
            <a:ext cx="3240000" cy="30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1600" b="1">
                <a:solidFill>
                  <a:srgbClr val="777777"/>
                </a:solidFill>
                <a:latin typeface="Arial"/>
              </a:rPr>
              <a:t>↓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7892000" y="19695600"/>
            <a:ext cx="3240000" cy="540000"/>
          </a:xfrm>
          <a:prstGeom prst="roundRect">
            <a:avLst>
              <a:gd name="adj" fmla="val 24000"/>
            </a:avLst>
          </a:prstGeom>
          <a:solidFill>
            <a:srgbClr val="FDEEF4"/>
          </a:solidFill>
          <a:ln w="15240">
            <a:solidFill>
              <a:srgbClr val="B844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7200" bIns="7200"/>
          <a:lstStyle/>
          <a:p>
            <a:pPr algn="ctr">
              <a:lnSpc>
                <a:spcPct val="92000"/>
              </a:lnSpc>
            </a:pPr>
            <a:r>
              <a:rPr sz="1700" b="1">
                <a:solidFill>
                  <a:srgbClr val="B8446E"/>
                </a:solidFill>
                <a:latin typeface="Arial"/>
              </a:rPr>
              <a:t>4 patologias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532000" y="20304000"/>
            <a:ext cx="3960000" cy="4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1650" b="0">
                <a:solidFill>
                  <a:srgbClr val="777777"/>
                </a:solidFill>
                <a:latin typeface="Arial"/>
              </a:rPr>
              <a:t>dropout 0,5 / 0,4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13284000" y="20916000"/>
            <a:ext cx="8208000" cy="683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C6E8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lnSpc>
                <a:spcPct val="90000"/>
              </a:lnSpc>
            </a:pPr>
            <a:r>
              <a:rPr sz="1900" b="1">
                <a:solidFill>
                  <a:srgbClr val="1E1E1E"/>
                </a:solidFill>
                <a:latin typeface="Arial"/>
              </a:rPr>
              <a:t>Adam</a:t>
            </a:r>
            <a:r>
              <a:rPr sz="1700" b="0">
                <a:solidFill>
                  <a:srgbClr val="4E4E4E"/>
                </a:solidFill>
                <a:latin typeface="Arial"/>
              </a:rPr>
              <a:t> · decaimento cosseno · </a:t>
            </a:r>
            <a:r>
              <a:rPr sz="1900" b="1">
                <a:solidFill>
                  <a:srgbClr val="1E1E1E"/>
                </a:solidFill>
                <a:latin typeface="Arial"/>
              </a:rPr>
              <a:t>parada por Macro-F1</a:t>
            </a:r>
          </a:p>
          <a:p>
            <a:pPr algn="ctr">
              <a:lnSpc>
                <a:spcPct val="90000"/>
              </a:lnSpc>
            </a:pPr>
            <a:r>
              <a:rPr sz="1700" b="0">
                <a:solidFill>
                  <a:srgbClr val="4E4E4E"/>
                </a:solidFill>
                <a:latin typeface="Arial"/>
              </a:rPr>
              <a:t>treino balanceado com augmentação de áudio + Borderline-SMOTE1</a:t>
            </a:r>
          </a:p>
          <a:p>
            <a:pPr algn="ctr">
              <a:lnSpc>
                <a:spcPct val="90000"/>
              </a:lnSpc>
            </a:pPr>
            <a:r>
              <a:rPr sz="1600" b="0">
                <a:solidFill>
                  <a:srgbClr val="777777"/>
                </a:solidFill>
                <a:latin typeface="Arial"/>
              </a:rPr>
              <a:t>z-score ajustado só nas amostras originais de treino</a:t>
            </a:r>
          </a:p>
        </p:txBody>
      </p:sp>
      <p:sp>
        <p:nvSpPr>
          <p:cNvPr id="140" name="Right Arrow 139"/>
          <p:cNvSpPr/>
          <p:nvPr/>
        </p:nvSpPr>
        <p:spPr>
          <a:xfrm>
            <a:off x="21996000" y="18252000"/>
            <a:ext cx="432000" cy="576000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9AA3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22608000" y="15300000"/>
            <a:ext cx="4104000" cy="6480000"/>
          </a:xfrm>
          <a:prstGeom prst="roundRect">
            <a:avLst>
              <a:gd name="adj" fmla="val 16000"/>
            </a:avLst>
          </a:prstGeom>
          <a:solidFill>
            <a:srgbClr val="FDF6E6"/>
          </a:solidFill>
          <a:ln w="25400">
            <a:solidFill>
              <a:srgbClr val="EDA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2608000" y="15516000"/>
            <a:ext cx="4104000" cy="9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2700" b="1">
                <a:solidFill>
                  <a:srgbClr val="C98B00"/>
                </a:solidFill>
                <a:latin typeface="Arial"/>
              </a:rPr>
              <a:t>FUSÃO TARDIA</a:t>
            </a:r>
          </a:p>
          <a:p>
            <a:pPr algn="ctr">
              <a:lnSpc>
                <a:spcPct val="92000"/>
              </a:lnSpc>
            </a:pPr>
            <a:r>
              <a:rPr sz="1800" b="0">
                <a:solidFill>
                  <a:srgbClr val="4E4E4E"/>
                </a:solidFill>
                <a:latin typeface="Arial"/>
              </a:rPr>
              <a:t>as 3 vogais votam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2968000" y="16596000"/>
            <a:ext cx="3384000" cy="684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EED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7200" bIns="7200"/>
          <a:lstStyle/>
          <a:p>
            <a:pPr algn="ctr">
              <a:lnSpc>
                <a:spcPct val="92000"/>
              </a:lnSpc>
            </a:pPr>
            <a:r>
              <a:rPr sz="2200" b="1">
                <a:solidFill>
                  <a:srgbClr val="1E1E1E"/>
                </a:solidFill>
                <a:latin typeface="Arial"/>
              </a:rPr>
              <a:t>/a/</a:t>
            </a:r>
            <a:r>
              <a:rPr sz="1700" b="0">
                <a:solidFill>
                  <a:srgbClr val="4E4E4E"/>
                </a:solidFill>
                <a:latin typeface="Arial"/>
              </a:rPr>
              <a:t>  P(classe)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2968000" y="17406000"/>
            <a:ext cx="3384000" cy="684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EED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7200" bIns="7200"/>
          <a:lstStyle/>
          <a:p>
            <a:pPr algn="ctr">
              <a:lnSpc>
                <a:spcPct val="92000"/>
              </a:lnSpc>
            </a:pPr>
            <a:r>
              <a:rPr sz="2200" b="1">
                <a:solidFill>
                  <a:srgbClr val="1E1E1E"/>
                </a:solidFill>
                <a:latin typeface="Arial"/>
              </a:rPr>
              <a:t>/i/</a:t>
            </a:r>
            <a:r>
              <a:rPr sz="1700" b="0">
                <a:solidFill>
                  <a:srgbClr val="4E4E4E"/>
                </a:solidFill>
                <a:latin typeface="Arial"/>
              </a:rPr>
              <a:t>  P(classe)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2968000" y="18216000"/>
            <a:ext cx="3384000" cy="684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EED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7200" bIns="7200"/>
          <a:lstStyle/>
          <a:p>
            <a:pPr algn="ctr">
              <a:lnSpc>
                <a:spcPct val="92000"/>
              </a:lnSpc>
            </a:pPr>
            <a:r>
              <a:rPr sz="2200" b="1">
                <a:solidFill>
                  <a:srgbClr val="1E1E1E"/>
                </a:solidFill>
                <a:latin typeface="Arial"/>
              </a:rPr>
              <a:t>/u/</a:t>
            </a:r>
            <a:r>
              <a:rPr sz="1700" b="0">
                <a:solidFill>
                  <a:srgbClr val="4E4E4E"/>
                </a:solidFill>
                <a:latin typeface="Arial"/>
              </a:rPr>
              <a:t>  P(classe)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2608000" y="18990000"/>
            <a:ext cx="4104000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2200" b="1">
                <a:solidFill>
                  <a:srgbClr val="C98B00"/>
                </a:solidFill>
                <a:latin typeface="Arial"/>
              </a:rPr>
              <a:t>↓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2968000" y="19386000"/>
            <a:ext cx="3384000" cy="1152000"/>
          </a:xfrm>
          <a:prstGeom prst="roundRect">
            <a:avLst>
              <a:gd name="adj" fmla="val 16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lnSpc>
                <a:spcPct val="92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média das</a:t>
            </a:r>
          </a:p>
          <a:p>
            <a:pPr algn="ctr">
              <a:lnSpc>
                <a:spcPct val="92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probabilidades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2824000" y="20664000"/>
            <a:ext cx="3672000" cy="93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700" b="0">
                <a:solidFill>
                  <a:srgbClr val="777777"/>
                </a:solidFill>
                <a:latin typeface="Arial"/>
              </a:rPr>
              <a:t>nenhuma vogal</a:t>
            </a:r>
          </a:p>
          <a:p>
            <a:pPr algn="ctr">
              <a:lnSpc>
                <a:spcPct val="90000"/>
              </a:lnSpc>
            </a:pPr>
            <a:r>
              <a:rPr sz="1700" b="0">
                <a:solidFill>
                  <a:srgbClr val="777777"/>
                </a:solidFill>
                <a:latin typeface="Arial"/>
              </a:rPr>
              <a:t>decide sozinha</a:t>
            </a:r>
          </a:p>
        </p:txBody>
      </p:sp>
      <p:sp>
        <p:nvSpPr>
          <p:cNvPr id="149" name="Right Arrow 148"/>
          <p:cNvSpPr/>
          <p:nvPr/>
        </p:nvSpPr>
        <p:spPr>
          <a:xfrm>
            <a:off x="26892000" y="18252000"/>
            <a:ext cx="432000" cy="576000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9AA3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7504000" y="15516000"/>
            <a:ext cx="3960000" cy="57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2900" b="1">
                <a:solidFill>
                  <a:srgbClr val="1F3B57"/>
                </a:solidFill>
                <a:latin typeface="Arial"/>
              </a:rPr>
              <a:t>DECISÃO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27504000" y="16092000"/>
            <a:ext cx="3960000" cy="1080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286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lnSpc>
                <a:spcPct val="92000"/>
              </a:lnSpc>
            </a:pPr>
            <a:r>
              <a:rPr sz="2000" b="1">
                <a:solidFill>
                  <a:srgbClr val="1E1E1E"/>
                </a:solidFill>
                <a:latin typeface="Arial"/>
              </a:rPr>
              <a:t>P(patológico)</a:t>
            </a:r>
          </a:p>
          <a:p>
            <a:pPr algn="ctr">
              <a:lnSpc>
                <a:spcPct val="92000"/>
              </a:lnSpc>
            </a:pPr>
            <a:r>
              <a:rPr sz="2300" b="1">
                <a:solidFill>
                  <a:srgbClr val="1F3B57"/>
                </a:solidFill>
                <a:latin typeface="Arial"/>
              </a:rPr>
              <a:t>≥ 0,5 ?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7504000" y="17388000"/>
            <a:ext cx="3960000" cy="827999"/>
          </a:xfrm>
          <a:prstGeom prst="roundRect">
            <a:avLst>
              <a:gd name="adj" fmla="val 20000"/>
            </a:avLst>
          </a:prstGeom>
          <a:solidFill>
            <a:srgbClr val="ECF6EC"/>
          </a:solidFill>
          <a:ln w="22860">
            <a:solidFill>
              <a:srgbClr val="008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7200" bIns="7200"/>
          <a:lstStyle/>
          <a:p>
            <a:pPr algn="ctr">
              <a:lnSpc>
                <a:spcPct val="92000"/>
              </a:lnSpc>
            </a:pPr>
            <a:r>
              <a:rPr sz="1700" b="0">
                <a:solidFill>
                  <a:srgbClr val="4E4E4E"/>
                </a:solidFill>
                <a:latin typeface="Arial"/>
              </a:rPr>
              <a:t>não → </a:t>
            </a:r>
            <a:r>
              <a:rPr sz="2400" b="1">
                <a:solidFill>
                  <a:srgbClr val="008300"/>
                </a:solidFill>
                <a:latin typeface="Arial"/>
              </a:rPr>
              <a:t>NORMAL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7504000" y="18288000"/>
            <a:ext cx="39600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1800" b="1">
                <a:solidFill>
                  <a:srgbClr val="777777"/>
                </a:solidFill>
                <a:latin typeface="Arial"/>
              </a:rPr>
              <a:t>sim ↓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7504000" y="18756000"/>
            <a:ext cx="3960000" cy="684000"/>
          </a:xfrm>
          <a:prstGeom prst="roundRect">
            <a:avLst>
              <a:gd name="adj" fmla="val 22000"/>
            </a:avLst>
          </a:prstGeom>
          <a:solidFill>
            <a:srgbClr val="FDEEF4"/>
          </a:solidFill>
          <a:ln w="17780">
            <a:solidFill>
              <a:srgbClr val="E87B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7200" bIns="7200"/>
          <a:lstStyle/>
          <a:p>
            <a:pPr algn="ctr">
              <a:lnSpc>
                <a:spcPct val="92000"/>
              </a:lnSpc>
            </a:pPr>
            <a:r>
              <a:rPr sz="1800" b="1">
                <a:solidFill>
                  <a:srgbClr val="B8446E"/>
                </a:solidFill>
                <a:latin typeface="Arial"/>
              </a:rPr>
              <a:t>Laringite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7504000" y="19512000"/>
            <a:ext cx="3960000" cy="684000"/>
          </a:xfrm>
          <a:prstGeom prst="roundRect">
            <a:avLst>
              <a:gd name="adj" fmla="val 22000"/>
            </a:avLst>
          </a:prstGeom>
          <a:solidFill>
            <a:srgbClr val="FDEEF4"/>
          </a:solidFill>
          <a:ln w="17780">
            <a:solidFill>
              <a:srgbClr val="E87B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7200" bIns="7200"/>
          <a:lstStyle/>
          <a:p>
            <a:pPr algn="ctr">
              <a:lnSpc>
                <a:spcPct val="92000"/>
              </a:lnSpc>
            </a:pPr>
            <a:r>
              <a:rPr sz="1800" b="1">
                <a:solidFill>
                  <a:srgbClr val="B8446E"/>
                </a:solidFill>
                <a:latin typeface="Arial"/>
              </a:rPr>
              <a:t>Disfonia Psicogênica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27504000" y="20268000"/>
            <a:ext cx="3960000" cy="684000"/>
          </a:xfrm>
          <a:prstGeom prst="roundRect">
            <a:avLst>
              <a:gd name="adj" fmla="val 22000"/>
            </a:avLst>
          </a:prstGeom>
          <a:solidFill>
            <a:srgbClr val="FDEEF4"/>
          </a:solidFill>
          <a:ln w="17780">
            <a:solidFill>
              <a:srgbClr val="E87B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7200" bIns="7200"/>
          <a:lstStyle/>
          <a:p>
            <a:pPr algn="ctr">
              <a:lnSpc>
                <a:spcPct val="92000"/>
              </a:lnSpc>
            </a:pPr>
            <a:r>
              <a:rPr sz="1800" b="1">
                <a:solidFill>
                  <a:srgbClr val="B8446E"/>
                </a:solidFill>
                <a:latin typeface="Arial"/>
              </a:rPr>
              <a:t>Disfonia Funcional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7504000" y="21024000"/>
            <a:ext cx="3960000" cy="684000"/>
          </a:xfrm>
          <a:prstGeom prst="roundRect">
            <a:avLst>
              <a:gd name="adj" fmla="val 22000"/>
            </a:avLst>
          </a:prstGeom>
          <a:solidFill>
            <a:srgbClr val="FDEEF4"/>
          </a:solidFill>
          <a:ln w="17780">
            <a:solidFill>
              <a:srgbClr val="E87B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7200" bIns="7200"/>
          <a:lstStyle/>
          <a:p>
            <a:pPr algn="ctr">
              <a:lnSpc>
                <a:spcPct val="92000"/>
              </a:lnSpc>
            </a:pPr>
            <a:r>
              <a:rPr sz="1800" b="1">
                <a:solidFill>
                  <a:srgbClr val="B8446E"/>
                </a:solidFill>
                <a:latin typeface="Arial"/>
              </a:rPr>
              <a:t>Edema de Reinke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936000" y="22122000"/>
            <a:ext cx="180000" cy="6480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314000" y="22068000"/>
            <a:ext cx="30150000" cy="79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000" b="1">
                <a:solidFill>
                  <a:srgbClr val="1F3B57"/>
                </a:solidFill>
                <a:latin typeface="Arial"/>
              </a:rPr>
              <a:t>RESULTADOS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314000" y="22805999"/>
            <a:ext cx="301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2300" b="0">
                <a:solidFill>
                  <a:srgbClr val="777777"/>
                </a:solidFill>
                <a:latin typeface="Arial"/>
              </a:rPr>
              <a:t>1.098 pacientes · predições agregadas fora da dobra de treino (out-of-fold)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936000" y="23363999"/>
            <a:ext cx="7308000" cy="2015999"/>
          </a:xfrm>
          <a:prstGeom prst="roundRect">
            <a:avLst>
              <a:gd name="adj" fmla="val 16000"/>
            </a:avLst>
          </a:prstGeom>
          <a:solidFill>
            <a:srgbClr val="E8F1FC"/>
          </a:solidFill>
          <a:ln w="2286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lnSpc>
                <a:spcPct val="92000"/>
              </a:lnSpc>
            </a:pPr>
            <a:r>
              <a:rPr sz="5200" b="1">
                <a:solidFill>
                  <a:srgbClr val="2A78D6"/>
                </a:solidFill>
                <a:latin typeface="Arial"/>
              </a:rPr>
              <a:t>69,7%</a:t>
            </a:r>
          </a:p>
          <a:p>
            <a:pPr algn="ctr">
              <a:lnSpc>
                <a:spcPct val="92000"/>
              </a:lnSpc>
            </a:pPr>
            <a:r>
              <a:rPr sz="2100" b="1">
                <a:solidFill>
                  <a:srgbClr val="1E1E1E"/>
                </a:solidFill>
                <a:latin typeface="Arial"/>
              </a:rPr>
              <a:t>Acurácia global</a:t>
            </a:r>
          </a:p>
          <a:p>
            <a:pPr algn="ctr">
              <a:lnSpc>
                <a:spcPct val="92000"/>
              </a:lnSpc>
            </a:pPr>
            <a:r>
              <a:rPr sz="1750" b="0">
                <a:solidFill>
                  <a:srgbClr val="4E4E4E"/>
                </a:solidFill>
                <a:latin typeface="Arial"/>
              </a:rPr>
              <a:t>IC 95%: 66,9 – 72,3%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8676000" y="23363999"/>
            <a:ext cx="7308000" cy="2015999"/>
          </a:xfrm>
          <a:prstGeom prst="roundRect">
            <a:avLst>
              <a:gd name="adj" fmla="val 16000"/>
            </a:avLst>
          </a:prstGeom>
          <a:solidFill>
            <a:srgbClr val="FDF0E9"/>
          </a:solidFill>
          <a:ln w="2286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lnSpc>
                <a:spcPct val="92000"/>
              </a:lnSpc>
            </a:pPr>
            <a:r>
              <a:rPr sz="5200" b="1">
                <a:solidFill>
                  <a:srgbClr val="EB6834"/>
                </a:solidFill>
                <a:latin typeface="Arial"/>
              </a:rPr>
              <a:t>0,4587</a:t>
            </a:r>
          </a:p>
          <a:p>
            <a:pPr algn="ctr">
              <a:lnSpc>
                <a:spcPct val="92000"/>
              </a:lnSpc>
            </a:pPr>
            <a:r>
              <a:rPr sz="2100" b="1">
                <a:solidFill>
                  <a:srgbClr val="1E1E1E"/>
                </a:solidFill>
                <a:latin typeface="Arial"/>
              </a:rPr>
              <a:t>Macro F1 (5 classes)</a:t>
            </a:r>
          </a:p>
          <a:p>
            <a:pPr algn="ctr">
              <a:lnSpc>
                <a:spcPct val="92000"/>
              </a:lnSpc>
            </a:pPr>
            <a:r>
              <a:rPr sz="1750" b="0">
                <a:solidFill>
                  <a:srgbClr val="4E4E4E"/>
                </a:solidFill>
                <a:latin typeface="Arial"/>
              </a:rPr>
              <a:t>IC 95%: 0,419 – 0,495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16416000" y="23363999"/>
            <a:ext cx="7308000" cy="2015999"/>
          </a:xfrm>
          <a:prstGeom prst="roundRect">
            <a:avLst>
              <a:gd name="adj" fmla="val 16000"/>
            </a:avLst>
          </a:prstGeom>
          <a:solidFill>
            <a:srgbClr val="ECF6EC"/>
          </a:solidFill>
          <a:ln w="22860">
            <a:solidFill>
              <a:srgbClr val="008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lnSpc>
                <a:spcPct val="92000"/>
              </a:lnSpc>
            </a:pPr>
            <a:r>
              <a:rPr sz="5200" b="1">
                <a:solidFill>
                  <a:srgbClr val="008300"/>
                </a:solidFill>
                <a:latin typeface="Arial"/>
              </a:rPr>
              <a:t>p &lt; 0,001</a:t>
            </a:r>
          </a:p>
          <a:p>
            <a:pPr algn="ctr">
              <a:lnSpc>
                <a:spcPct val="92000"/>
              </a:lnSpc>
            </a:pPr>
            <a:r>
              <a:rPr sz="2100" b="1">
                <a:solidFill>
                  <a:srgbClr val="1E1E1E"/>
                </a:solidFill>
                <a:latin typeface="Arial"/>
              </a:rPr>
              <a:t>vs. os 3 baselines</a:t>
            </a:r>
          </a:p>
          <a:p>
            <a:pPr algn="ctr">
              <a:lnSpc>
                <a:spcPct val="92000"/>
              </a:lnSpc>
            </a:pPr>
            <a:r>
              <a:rPr sz="1750" b="0">
                <a:solidFill>
                  <a:srgbClr val="4E4E4E"/>
                </a:solidFill>
                <a:latin typeface="Arial"/>
              </a:rPr>
              <a:t>McNemar · MLP superior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4156000" y="23363999"/>
            <a:ext cx="7308000" cy="2015999"/>
          </a:xfrm>
          <a:prstGeom prst="roundRect">
            <a:avLst>
              <a:gd name="adj" fmla="val 16000"/>
            </a:avLst>
          </a:prstGeom>
          <a:solidFill>
            <a:srgbClr val="E9F9F2"/>
          </a:solidFill>
          <a:ln w="22860">
            <a:solidFill>
              <a:srgbClr val="17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lnSpc>
                <a:spcPct val="92000"/>
              </a:lnSpc>
            </a:pPr>
            <a:r>
              <a:rPr sz="5200" b="1">
                <a:solidFill>
                  <a:srgbClr val="179669"/>
                </a:solidFill>
                <a:latin typeface="Arial"/>
              </a:rPr>
              <a:t>0,867</a:t>
            </a:r>
          </a:p>
          <a:p>
            <a:pPr algn="ctr">
              <a:lnSpc>
                <a:spcPct val="92000"/>
              </a:lnSpc>
            </a:pPr>
            <a:r>
              <a:rPr sz="2100" b="1">
                <a:solidFill>
                  <a:srgbClr val="1E1E1E"/>
                </a:solidFill>
                <a:latin typeface="Arial"/>
              </a:rPr>
              <a:t>F1 da classe Normal</a:t>
            </a:r>
          </a:p>
          <a:p>
            <a:pPr algn="ctr">
              <a:lnSpc>
                <a:spcPct val="92000"/>
              </a:lnSpc>
            </a:pPr>
            <a:r>
              <a:rPr sz="1750" b="0">
                <a:solidFill>
                  <a:srgbClr val="4E4E4E"/>
                </a:solidFill>
                <a:latin typeface="Arial"/>
              </a:rPr>
              <a:t>recall de 92% nos saudáveis</a:t>
            </a:r>
          </a:p>
        </p:txBody>
      </p:sp>
      <p:pic>
        <p:nvPicPr>
          <p:cNvPr id="165" name="Picture 164" descr="poster_confusa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6000" y="25955999"/>
            <a:ext cx="8568000" cy="5027928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936000" y="31019927"/>
            <a:ext cx="856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2100" b="1">
                <a:solidFill>
                  <a:srgbClr val="2A78D6"/>
                </a:solidFill>
                <a:latin typeface="Arial"/>
              </a:rPr>
              <a:t>Onde o modelo erra. </a:t>
            </a:r>
            <a:r>
              <a:rPr sz="2100" b="0">
                <a:solidFill>
                  <a:srgbClr val="4E4E4E"/>
                </a:solidFill>
                <a:latin typeface="Arial"/>
              </a:rPr>
              <a:t>As duas disfonias funcionais se trocam entre si (27 e 10 casos) e vazam para Normal.</a:t>
            </a:r>
          </a:p>
        </p:txBody>
      </p:sp>
      <p:pic>
        <p:nvPicPr>
          <p:cNvPr id="167" name="Picture 166" descr="poster_f1_classe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80000" y="25955999"/>
            <a:ext cx="7912800" cy="5035418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10080000" y="31027417"/>
            <a:ext cx="79128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2100" b="1">
                <a:solidFill>
                  <a:srgbClr val="EB6834"/>
                </a:solidFill>
                <a:latin typeface="Arial"/>
              </a:rPr>
              <a:t>Desempenho por classe. </a:t>
            </a:r>
            <a:r>
              <a:rPr sz="2100" b="0">
                <a:solidFill>
                  <a:srgbClr val="4E4E4E"/>
                </a:solidFill>
                <a:latin typeface="Arial"/>
              </a:rPr>
              <a:t>Normal e Reinke acima da média; as funcionais, abaixo.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8568800" y="25955999"/>
            <a:ext cx="12895200" cy="503541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0320">
            <a:solidFill>
              <a:srgbClr val="D8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1999" rIns="251999" tIns="144000" bIns="144000"/>
          <a:lstStyle/>
          <a:p>
            <a:pPr algn="ctr">
              <a:lnSpc>
                <a:spcPct val="95000"/>
              </a:lnSpc>
            </a:pPr>
            <a:r>
              <a:rPr sz="2600" b="1">
                <a:solidFill>
                  <a:srgbClr val="1F3B57"/>
                </a:solidFill>
                <a:latin typeface="Arial"/>
              </a:rPr>
              <a:t>O TETO ACÚSTICO</a:t>
            </a:r>
          </a:p>
          <a:p>
            <a:pPr algn="ctr">
              <a:lnSpc>
                <a:spcPct val="95000"/>
              </a:lnSpc>
            </a:pPr>
            <a:r>
              <a:rPr sz="1000" b="0">
                <a:solidFill>
                  <a:srgbClr val="1E1E1E"/>
                </a:solidFill>
                <a:latin typeface="Arial"/>
              </a:rPr>
              <a:t/>
            </a:r>
          </a:p>
          <a:p>
            <a:pPr algn="ctr">
              <a:lnSpc>
                <a:spcPct val="95000"/>
              </a:lnSpc>
            </a:pPr>
            <a:r>
              <a:rPr sz="2000" b="0">
                <a:solidFill>
                  <a:srgbClr val="1E1E1E"/>
                </a:solidFill>
                <a:latin typeface="Arial"/>
              </a:rPr>
              <a:t>Disfonia psicogênica e funcional</a:t>
            </a:r>
          </a:p>
          <a:p>
            <a:pPr algn="ctr">
              <a:lnSpc>
                <a:spcPct val="95000"/>
              </a:lnSpc>
            </a:pPr>
            <a:r>
              <a:rPr sz="2100" b="1">
                <a:solidFill>
                  <a:srgbClr val="1F3B57"/>
                </a:solidFill>
                <a:latin typeface="Arial"/>
              </a:rPr>
              <a:t>não têm lesão estrutural</a:t>
            </a:r>
          </a:p>
          <a:p>
            <a:pPr algn="ctr">
              <a:lnSpc>
                <a:spcPct val="95000"/>
              </a:lnSpc>
            </a:pPr>
            <a:r>
              <a:rPr sz="2000" b="0">
                <a:solidFill>
                  <a:srgbClr val="1E1E1E"/>
                </a:solidFill>
                <a:latin typeface="Arial"/>
              </a:rPr>
              <a:t>— a voz sozinha não as separa.</a:t>
            </a:r>
          </a:p>
          <a:p>
            <a:pPr algn="ctr">
              <a:lnSpc>
                <a:spcPct val="95000"/>
              </a:lnSpc>
            </a:pPr>
            <a:r>
              <a:rPr sz="1000" b="0">
                <a:solidFill>
                  <a:srgbClr val="1E1E1E"/>
                </a:solidFill>
                <a:latin typeface="Arial"/>
              </a:rPr>
              <a:t/>
            </a:r>
          </a:p>
          <a:p>
            <a:pPr algn="ctr">
              <a:lnSpc>
                <a:spcPct val="95000"/>
              </a:lnSpc>
            </a:pPr>
            <a:r>
              <a:rPr sz="2100" b="1">
                <a:solidFill>
                  <a:srgbClr val="C02E2B"/>
                </a:solidFill>
                <a:latin typeface="Arial"/>
              </a:rPr>
              <a:t>37 dos 203 pacientes</a:t>
            </a:r>
            <a:r>
              <a:rPr sz="2000" b="0">
                <a:solidFill>
                  <a:srgbClr val="1E1E1E"/>
                </a:solidFill>
                <a:latin typeface="Arial"/>
              </a:rPr>
              <a:t> dessas</a:t>
            </a:r>
          </a:p>
          <a:p>
            <a:pPr algn="ctr">
              <a:lnSpc>
                <a:spcPct val="95000"/>
              </a:lnSpc>
            </a:pPr>
            <a:r>
              <a:rPr sz="2000" b="0">
                <a:solidFill>
                  <a:srgbClr val="1E1E1E"/>
                </a:solidFill>
                <a:latin typeface="Arial"/>
              </a:rPr>
              <a:t>duas classes foram trocados entre si.</a:t>
            </a:r>
          </a:p>
          <a:p>
            <a:pPr algn="ctr">
              <a:lnSpc>
                <a:spcPct val="95000"/>
              </a:lnSpc>
            </a:pPr>
            <a:r>
              <a:rPr sz="1000" b="0">
                <a:solidFill>
                  <a:srgbClr val="1E1E1E"/>
                </a:solidFill>
                <a:latin typeface="Arial"/>
              </a:rPr>
              <a:t/>
            </a:r>
          </a:p>
          <a:p>
            <a:pPr algn="ctr">
              <a:lnSpc>
                <a:spcPct val="95000"/>
              </a:lnSpc>
            </a:pPr>
            <a:r>
              <a:rPr sz="1900" b="0">
                <a:solidFill>
                  <a:srgbClr val="4E4E4E"/>
                </a:solidFill>
                <a:latin typeface="Arial"/>
              </a:rPr>
              <a:t>Nos 12 braços de arquitetura</a:t>
            </a:r>
          </a:p>
          <a:p>
            <a:pPr algn="ctr">
              <a:lnSpc>
                <a:spcPct val="95000"/>
              </a:lnSpc>
            </a:pPr>
            <a:r>
              <a:rPr sz="1900" b="0">
                <a:solidFill>
                  <a:srgbClr val="4E4E4E"/>
                </a:solidFill>
                <a:latin typeface="Arial"/>
              </a:rPr>
              <a:t>testados, o melhor F1 nessas classes</a:t>
            </a:r>
          </a:p>
          <a:p>
            <a:pPr algn="ctr">
              <a:lnSpc>
                <a:spcPct val="95000"/>
              </a:lnSpc>
            </a:pPr>
            <a:r>
              <a:rPr sz="1900" b="0">
                <a:solidFill>
                  <a:srgbClr val="4E4E4E"/>
                </a:solidFill>
                <a:latin typeface="Arial"/>
              </a:rPr>
              <a:t>foi 0,36 e 0,27.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36000" y="31927417"/>
            <a:ext cx="18927360" cy="503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2900" b="1">
                <a:solidFill>
                  <a:srgbClr val="1F3B57"/>
                </a:solidFill>
                <a:latin typeface="Arial"/>
              </a:rPr>
              <a:t>EVIDÊNCIA A/B — </a:t>
            </a:r>
            <a:r>
              <a:rPr sz="2300" b="0">
                <a:solidFill>
                  <a:srgbClr val="4E4E4E"/>
                </a:solidFill>
                <a:latin typeface="Arial"/>
              </a:rPr>
              <a:t>mesma seed, mesmas 5 dobras, decisão por regra fixa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6155167" y="31927417"/>
            <a:ext cx="15308832" cy="503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2300" b="1">
                <a:solidFill>
                  <a:srgbClr val="179669"/>
                </a:solidFill>
                <a:latin typeface="Arial"/>
              </a:rPr>
              <a:t>GAP 3 — </a:t>
            </a:r>
            <a:r>
              <a:rPr sz="2200" b="0">
                <a:solidFill>
                  <a:srgbClr val="4E4E4E"/>
                </a:solidFill>
                <a:latin typeface="Arial"/>
              </a:rPr>
              <a:t>profundidade da rede: 12 braços (4 arquiteturas × 3 regularizações)</a:t>
            </a:r>
          </a:p>
        </p:txBody>
      </p:sp>
      <p:pic>
        <p:nvPicPr>
          <p:cNvPr id="172" name="Picture 171" descr="poster_gaps_ab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6000" y="32539417"/>
            <a:ext cx="14355167" cy="5019794"/>
          </a:xfrm>
          <a:prstGeom prst="rect">
            <a:avLst/>
          </a:prstGeom>
        </p:spPr>
      </p:pic>
      <p:pic>
        <p:nvPicPr>
          <p:cNvPr id="173" name="Picture 172" descr="poster_arquitetura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155167" y="32539417"/>
            <a:ext cx="15308832" cy="4685232"/>
          </a:xfrm>
          <a:prstGeom prst="rect">
            <a:avLst/>
          </a:prstGeom>
        </p:spPr>
      </p:pic>
      <p:sp>
        <p:nvSpPr>
          <p:cNvPr id="174" name="Rounded Rectangle 173"/>
          <p:cNvSpPr/>
          <p:nvPr/>
        </p:nvSpPr>
        <p:spPr>
          <a:xfrm>
            <a:off x="936000" y="37494000"/>
            <a:ext cx="180000" cy="648000"/>
          </a:xfrm>
          <a:prstGeom prst="roundRect">
            <a:avLst>
              <a:gd name="adj" fmla="val 50000"/>
            </a:avLst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314000" y="37440000"/>
            <a:ext cx="15462000" cy="79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000" b="1">
                <a:solidFill>
                  <a:srgbClr val="1F3B57"/>
                </a:solidFill>
                <a:latin typeface="Arial"/>
              </a:rPr>
              <a:t>CONCLUSÃO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17496000" y="37494000"/>
            <a:ext cx="180000" cy="648000"/>
          </a:xfrm>
          <a:prstGeom prst="roundRect">
            <a:avLst>
              <a:gd name="adj" fmla="val 50000"/>
            </a:avLst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17874000" y="37440000"/>
            <a:ext cx="13590000" cy="79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000" b="1">
                <a:solidFill>
                  <a:srgbClr val="1F3B57"/>
                </a:solidFill>
                <a:latin typeface="Arial"/>
              </a:rPr>
              <a:t>REFERÊNCIAS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936000" y="38376000"/>
            <a:ext cx="3690000" cy="2015999"/>
          </a:xfrm>
          <a:prstGeom prst="roundRect">
            <a:avLst>
              <a:gd name="adj" fmla="val 16000"/>
            </a:avLst>
          </a:prstGeom>
          <a:solidFill>
            <a:srgbClr val="ECF6EC"/>
          </a:solidFill>
          <a:ln w="22860">
            <a:solidFill>
              <a:srgbClr val="008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25999" tIns="72000" bIns="72000"/>
          <a:lstStyle/>
          <a:p>
            <a:pPr algn="ctr">
              <a:lnSpc>
                <a:spcPct val="94000"/>
              </a:lnSpc>
            </a:pPr>
            <a:r>
              <a:rPr sz="2100" b="1">
                <a:solidFill>
                  <a:srgbClr val="008300"/>
                </a:solidFill>
                <a:latin typeface="Arial"/>
              </a:rPr>
              <a:t>Triagem funciona.</a:t>
            </a:r>
          </a:p>
          <a:p>
            <a:pPr algn="ctr">
              <a:lnSpc>
                <a:spcPct val="94000"/>
              </a:lnSpc>
            </a:pPr>
            <a:r>
              <a:rPr sz="600" b="0">
                <a:solidFill>
                  <a:srgbClr val="1E1E1E"/>
                </a:solidFill>
                <a:latin typeface="Arial"/>
              </a:rPr>
              <a:t/>
            </a:r>
          </a:p>
          <a:p>
            <a:pPr algn="ctr">
              <a:lnSpc>
                <a:spcPct val="94000"/>
              </a:lnSpc>
            </a:pPr>
            <a:r>
              <a:rPr sz="1800" b="0">
                <a:solidFill>
                  <a:srgbClr val="1E1E1E"/>
                </a:solidFill>
                <a:latin typeface="Arial"/>
              </a:rPr>
              <a:t>Saudável × patológico se separa: F1 0,867, recall 92%.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4986000" y="38376000"/>
            <a:ext cx="3690000" cy="2015999"/>
          </a:xfrm>
          <a:prstGeom prst="roundRect">
            <a:avLst>
              <a:gd name="adj" fmla="val 16000"/>
            </a:avLst>
          </a:prstGeom>
          <a:solidFill>
            <a:srgbClr val="E8F1FC"/>
          </a:solidFill>
          <a:ln w="2286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25999" tIns="72000" bIns="72000"/>
          <a:lstStyle/>
          <a:p>
            <a:pPr algn="ctr">
              <a:lnSpc>
                <a:spcPct val="94000"/>
              </a:lnSpc>
            </a:pPr>
            <a:r>
              <a:rPr sz="2100" b="1">
                <a:solidFill>
                  <a:srgbClr val="2A78D6"/>
                </a:solidFill>
                <a:latin typeface="Arial"/>
              </a:rPr>
              <a:t>Reinke é separável.</a:t>
            </a:r>
          </a:p>
          <a:p>
            <a:pPr algn="ctr">
              <a:lnSpc>
                <a:spcPct val="94000"/>
              </a:lnSpc>
            </a:pPr>
            <a:r>
              <a:rPr sz="600" b="0">
                <a:solidFill>
                  <a:srgbClr val="1E1E1E"/>
                </a:solidFill>
                <a:latin typeface="Arial"/>
              </a:rPr>
              <a:t/>
            </a:r>
          </a:p>
          <a:p>
            <a:pPr algn="ctr">
              <a:lnSpc>
                <a:spcPct val="94000"/>
              </a:lnSpc>
            </a:pPr>
            <a:r>
              <a:rPr sz="1800" b="0">
                <a:solidFill>
                  <a:srgbClr val="1E1E1E"/>
                </a:solidFill>
                <a:latin typeface="Arial"/>
              </a:rPr>
              <a:t>A lesão estrutural deixa marca acústica (F1 0,456).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9036000" y="38376000"/>
            <a:ext cx="3690000" cy="2015999"/>
          </a:xfrm>
          <a:prstGeom prst="roundRect">
            <a:avLst>
              <a:gd name="adj" fmla="val 16000"/>
            </a:avLst>
          </a:prstGeom>
          <a:solidFill>
            <a:srgbClr val="FDECEB"/>
          </a:solidFill>
          <a:ln w="22860">
            <a:solidFill>
              <a:srgbClr val="C0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25999" tIns="72000" bIns="72000"/>
          <a:lstStyle/>
          <a:p>
            <a:pPr algn="ctr">
              <a:lnSpc>
                <a:spcPct val="94000"/>
              </a:lnSpc>
            </a:pPr>
            <a:r>
              <a:rPr sz="2100" b="1">
                <a:solidFill>
                  <a:srgbClr val="C02E2B"/>
                </a:solidFill>
                <a:latin typeface="Arial"/>
              </a:rPr>
              <a:t>Teto nas funcionais.</a:t>
            </a:r>
          </a:p>
          <a:p>
            <a:pPr algn="ctr">
              <a:lnSpc>
                <a:spcPct val="94000"/>
              </a:lnSpc>
            </a:pPr>
            <a:r>
              <a:rPr sz="600" b="0">
                <a:solidFill>
                  <a:srgbClr val="1E1E1E"/>
                </a:solidFill>
                <a:latin typeface="Arial"/>
              </a:rPr>
              <a:t/>
            </a:r>
          </a:p>
          <a:p>
            <a:pPr algn="ctr">
              <a:lnSpc>
                <a:spcPct val="94000"/>
              </a:lnSpc>
            </a:pPr>
            <a:r>
              <a:rPr sz="1800" b="0">
                <a:solidFill>
                  <a:srgbClr val="1E1E1E"/>
                </a:solidFill>
                <a:latin typeface="Arial"/>
              </a:rPr>
              <a:t>Psicogênica (0,330) × funcional (0,242) exigem sinal além da voz.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13086000" y="38376000"/>
            <a:ext cx="3690000" cy="2015999"/>
          </a:xfrm>
          <a:prstGeom prst="roundRect">
            <a:avLst>
              <a:gd name="adj" fmla="val 16000"/>
            </a:avLst>
          </a:prstGeom>
          <a:solidFill>
            <a:srgbClr val="F2F4F7"/>
          </a:solidFill>
          <a:ln w="2286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25999" tIns="72000" bIns="72000"/>
          <a:lstStyle/>
          <a:p>
            <a:pPr algn="ctr">
              <a:lnSpc>
                <a:spcPct val="94000"/>
              </a:lnSpc>
            </a:pPr>
            <a:r>
              <a:rPr sz="2100" b="1">
                <a:solidFill>
                  <a:srgbClr val="1F3B57"/>
                </a:solidFill>
                <a:latin typeface="Arial"/>
              </a:rPr>
              <a:t>Rigor acima do ganho.</a:t>
            </a:r>
          </a:p>
          <a:p>
            <a:pPr algn="ctr">
              <a:lnSpc>
                <a:spcPct val="94000"/>
              </a:lnSpc>
            </a:pPr>
            <a:r>
              <a:rPr sz="600" b="0">
                <a:solidFill>
                  <a:srgbClr val="1E1E1E"/>
                </a:solidFill>
                <a:latin typeface="Arial"/>
              </a:rPr>
              <a:t/>
            </a:r>
          </a:p>
          <a:p>
            <a:pPr algn="ctr">
              <a:lnSpc>
                <a:spcPct val="94000"/>
              </a:lnSpc>
            </a:pPr>
            <a:r>
              <a:rPr sz="1800" b="0">
                <a:solidFill>
                  <a:srgbClr val="1E1E1E"/>
                </a:solidFill>
                <a:latin typeface="Arial"/>
              </a:rPr>
              <a:t>Das 3 técnicas propostas, 1 foi rejeitada pela própria evidência A/B.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7496000" y="38376000"/>
            <a:ext cx="11736000" cy="4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1E1E1E"/>
                </a:solidFill>
                <a:latin typeface="Arial"/>
              </a:rPr>
              <a:t>BARRY, W. J.; PÜTZER, M. </a:t>
            </a:r>
            <a:r>
              <a:rPr sz="1700" b="0">
                <a:solidFill>
                  <a:srgbClr val="4E4E4E"/>
                </a:solidFill>
                <a:latin typeface="Arial"/>
              </a:rPr>
              <a:t>Saarbrücken Voice Database. Univ. des Saarlandes, 2007.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7496000" y="38800800"/>
            <a:ext cx="11736000" cy="4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1E1E1E"/>
                </a:solidFill>
                <a:latin typeface="Arial"/>
              </a:rPr>
              <a:t>HAN, H.; WANG, W.-Y.; MAO, B.-H. </a:t>
            </a:r>
            <a:r>
              <a:rPr sz="1700" b="0">
                <a:solidFill>
                  <a:srgbClr val="4E4E4E"/>
                </a:solidFill>
                <a:latin typeface="Arial"/>
              </a:rPr>
              <a:t>Borderline-SMOTE. LNCS, v. 3644, p. 878-887, 2005.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7496000" y="39225600"/>
            <a:ext cx="11736000" cy="4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1E1E1E"/>
                </a:solidFill>
                <a:latin typeface="Arial"/>
              </a:rPr>
              <a:t>VRBA, J. et al. </a:t>
            </a:r>
            <a:r>
              <a:rPr sz="1700" b="0">
                <a:solidFill>
                  <a:srgbClr val="4E4E4E"/>
                </a:solidFill>
                <a:latin typeface="Arial"/>
              </a:rPr>
              <a:t>Reproducible ML-based voice pathology detection. J. Voice, 2025.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7496000" y="39650400"/>
            <a:ext cx="11736000" cy="4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1E1E1E"/>
                </a:solidFill>
                <a:latin typeface="Arial"/>
              </a:rPr>
              <a:t>LEE, J.-Y. </a:t>
            </a:r>
            <a:r>
              <a:rPr sz="1700" b="0">
                <a:solidFill>
                  <a:srgbClr val="4E4E4E"/>
                </a:solidFill>
                <a:latin typeface="Arial"/>
              </a:rPr>
              <a:t>Deep learning for pathological voice detection. Appl. Sci., v. 11, 2021.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7496000" y="40075200"/>
            <a:ext cx="11736000" cy="4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1E1E1E"/>
                </a:solidFill>
                <a:latin typeface="Arial"/>
              </a:rPr>
              <a:t>GUIDO, R. C. </a:t>
            </a:r>
            <a:r>
              <a:rPr sz="1700" b="0">
                <a:solidFill>
                  <a:srgbClr val="4E4E4E"/>
                </a:solidFill>
                <a:latin typeface="Arial"/>
              </a:rPr>
              <a:t>Wavelets behind the scenes. Physics Reports, v. 985, 2022.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7496000" y="40500000"/>
            <a:ext cx="11736000" cy="4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1E1E1E"/>
                </a:solidFill>
                <a:latin typeface="Arial"/>
              </a:rPr>
              <a:t>KINGMA, D. P.; BA, J. </a:t>
            </a:r>
            <a:r>
              <a:rPr sz="1700" b="0">
                <a:solidFill>
                  <a:srgbClr val="4E4E4E"/>
                </a:solidFill>
                <a:latin typeface="Arial"/>
              </a:rPr>
              <a:t>Adam: stochastic optimization. ICLR, 2015.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8944000" y="40320000"/>
            <a:ext cx="2880000" cy="5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1E1E1E"/>
                </a:solidFill>
                <a:latin typeface="Arial"/>
              </a:rPr>
              <a:t>código-fonte</a:t>
            </a:r>
          </a:p>
          <a:p>
            <a:pPr algn="ctr">
              <a:lnSpc>
                <a:spcPct val="90000"/>
              </a:lnSpc>
            </a:pPr>
            <a:r>
              <a:rPr sz="1600" b="0">
                <a:solidFill>
                  <a:srgbClr val="4E4E4E"/>
                </a:solidFill>
                <a:latin typeface="Arial"/>
              </a:rPr>
              <a:t>e dados completos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2021-09-08T13:51:19Z</dcterms:created>
  <dc:creator>Alessandro</dc:creator>
  <dc:description/>
  <dc:language>pt-BR</dc:language>
  <cp:lastModifiedBy/>
  <dcterms:modified xsi:type="dcterms:W3CDTF">2026-07-27T22:27:39Z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